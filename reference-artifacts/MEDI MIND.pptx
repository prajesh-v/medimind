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97" r:id="rId2"/>
    <p:sldId id="256" r:id="rId3"/>
    <p:sldId id="299" r:id="rId4"/>
    <p:sldId id="301" r:id="rId5"/>
    <p:sldId id="294" r:id="rId6"/>
    <p:sldId id="296" r:id="rId7"/>
  </p:sldIdLst>
  <p:sldSz cx="18288000" cy="10287000"/>
  <p:notesSz cx="6858000" cy="9144000"/>
  <p:embeddedFontLst>
    <p:embeddedFont>
      <p:font typeface="ＭＳ Ｐゴシック" panose="020B0600070205080204" pitchFamily="34" charset="-128"/>
      <p:regular r:id="rId9"/>
    </p:embeddedFont>
    <p:embeddedFont>
      <p:font typeface="Canva Sans" panose="020B0604020202020204" charset="0"/>
      <p:regular r:id="rId10"/>
    </p:embeddedFont>
    <p:embeddedFont>
      <p:font typeface="Garamond" panose="02020404030301010803" pitchFamily="18" charset="0"/>
      <p:regular r:id="rId11"/>
      <p:bold r:id="rId12"/>
      <p:italic r:id="rId13"/>
    </p:embeddedFont>
    <p:embeddedFont>
      <p:font typeface="Poppins Bold" panose="020B0604020202020204" charset="0"/>
      <p:regular r:id="rId14"/>
    </p:embeddedFont>
    <p:embeddedFont>
      <p:font typeface="Yu Gothic UI" panose="020B0500000000000000" pitchFamily="34" charset="-128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414B"/>
    <a:srgbClr val="087F70"/>
    <a:srgbClr val="E8F8F5"/>
    <a:srgbClr val="2833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59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553250-ED2E-45E1-9C63-E2813CE18D35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018E9-CE9D-4745-903F-2ED8F8B5D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27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mailto:labeling.Drugs@F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13676958" y="3162300"/>
            <a:ext cx="4186063" cy="4777162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371600" y="442754"/>
            <a:ext cx="13282547" cy="1174740"/>
          </a:xfrm>
        </p:spPr>
        <p:txBody>
          <a:bodyPr/>
          <a:lstStyle/>
          <a:p>
            <a:r>
              <a:rPr lang="en-US" sz="6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    </a:t>
            </a:r>
            <a:endParaRPr lang="en-IN" sz="6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4979" y="1485900"/>
            <a:ext cx="17177221" cy="8422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700" dirty="0">
              <a:latin typeface="Canva Sans" panose="020B0604020202020204" charset="0"/>
            </a:endParaRPr>
          </a:p>
          <a:p>
            <a:pPr marL="428625" indent="-42862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latin typeface="Poppins Bold" panose="020B0604020202020204" charset="0"/>
                <a:cs typeface="Poppins Bold" panose="020B0604020202020204" charset="0"/>
              </a:rPr>
              <a:t>Problem Statement ID </a:t>
            </a:r>
            <a:r>
              <a:rPr lang="en-US" sz="2700" b="1" dirty="0">
                <a:latin typeface="Canva Sans" panose="020B0604020202020204" charset="0"/>
                <a:cs typeface="Arial" panose="020B0604020202020204" pitchFamily="34" charset="0"/>
              </a:rPr>
              <a:t>–</a:t>
            </a:r>
            <a:r>
              <a:rPr lang="en-US" sz="2700" dirty="0">
                <a:latin typeface="Canva Sans" panose="020B0604020202020204" charset="0"/>
                <a:cs typeface="Arial" panose="020B0604020202020204" pitchFamily="34" charset="0"/>
              </a:rPr>
              <a:t>SIH26198</a:t>
            </a:r>
          </a:p>
          <a:p>
            <a:pPr marL="428625" indent="-42862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latin typeface="Poppins Bold" panose="020B0604020202020204" charset="0"/>
                <a:cs typeface="Poppins Bold" panose="020B0604020202020204" charset="0"/>
              </a:rPr>
              <a:t>Problem Statement Title- </a:t>
            </a:r>
          </a:p>
          <a:p>
            <a:pPr>
              <a:lnSpc>
                <a:spcPct val="200000"/>
              </a:lnSpc>
            </a:pPr>
            <a:r>
              <a:rPr lang="en-US" sz="2700" b="1" dirty="0" err="1">
                <a:latin typeface="Canva Sans" panose="020B0604020202020204" charset="0"/>
                <a:cs typeface="Arial" panose="020B0604020202020204" pitchFamily="34" charset="0"/>
              </a:rPr>
              <a:t>MediMind</a:t>
            </a:r>
            <a:r>
              <a:rPr lang="en-US" sz="2700" b="1" dirty="0">
                <a:latin typeface="Canva Sans" panose="020B0604020202020204" charset="0"/>
                <a:cs typeface="Arial" panose="020B0604020202020204" pitchFamily="34" charset="0"/>
              </a:rPr>
              <a:t>:  AI assisted  Personalized Medication and Healthcare Companion</a:t>
            </a:r>
          </a:p>
          <a:p>
            <a:pPr marL="428625" indent="-42862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latin typeface="Poppins Bold" panose="020B0604020202020204" charset="0"/>
                <a:cs typeface="Poppins Bold" panose="020B0604020202020204" charset="0"/>
              </a:rPr>
              <a:t>Theme</a:t>
            </a:r>
            <a:r>
              <a:rPr lang="en-US" sz="3000" b="1" dirty="0">
                <a:latin typeface="Canva Sans" panose="020B0604020202020204" charset="0"/>
                <a:cs typeface="Arial" panose="020B0604020202020204" pitchFamily="34" charset="0"/>
              </a:rPr>
              <a:t>-</a:t>
            </a:r>
            <a:r>
              <a:rPr lang="en-US" sz="2700" b="1" dirty="0">
                <a:latin typeface="Canva Sans" panose="020B0604020202020204" charset="0"/>
                <a:cs typeface="Arial" panose="020B0604020202020204" pitchFamily="34" charset="0"/>
              </a:rPr>
              <a:t> </a:t>
            </a:r>
            <a:r>
              <a:rPr lang="en-US" sz="2700" dirty="0">
                <a:latin typeface="Canva Sans" panose="020B0604020202020204" charset="0"/>
                <a:cs typeface="Arial" panose="020B0604020202020204" pitchFamily="34" charset="0"/>
              </a:rPr>
              <a:t>Med Tech /Bio Tech /Health Tech</a:t>
            </a:r>
          </a:p>
          <a:p>
            <a:pPr marL="428625" indent="-42862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latin typeface="Poppins Bold" panose="020B0604020202020204" charset="0"/>
                <a:cs typeface="Poppins Bold" panose="020B0604020202020204" charset="0"/>
              </a:rPr>
              <a:t>PS Category</a:t>
            </a:r>
            <a:r>
              <a:rPr lang="en-US" sz="2700" b="1" dirty="0">
                <a:latin typeface="Poppins Bold" panose="020B0604020202020204" charset="0"/>
                <a:cs typeface="Poppins Bold" panose="020B0604020202020204" charset="0"/>
              </a:rPr>
              <a:t>- </a:t>
            </a:r>
            <a:r>
              <a:rPr lang="en-US" sz="2700" dirty="0">
                <a:latin typeface="Canva Sans" panose="020B0604020202020204" charset="0"/>
                <a:cs typeface="Arial" panose="020B0604020202020204" pitchFamily="34" charset="0"/>
              </a:rPr>
              <a:t>Software</a:t>
            </a:r>
          </a:p>
          <a:p>
            <a:pPr marL="428625" indent="-42862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latin typeface="Poppins Bold" panose="020B0604020202020204" charset="0"/>
                <a:cs typeface="Poppins Bold" panose="020B0604020202020204" charset="0"/>
              </a:rPr>
              <a:t>Team ID- </a:t>
            </a:r>
            <a:r>
              <a:rPr lang="en-US" sz="2700" dirty="0">
                <a:latin typeface="Canva Sans" panose="020B0604020202020204" charset="0"/>
                <a:cs typeface="Arial" panose="020B0604020202020204" pitchFamily="34" charset="0"/>
              </a:rPr>
              <a:t>SIH2026-179</a:t>
            </a:r>
          </a:p>
          <a:p>
            <a:pPr marL="428625" indent="-42862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latin typeface="Poppins Bold" panose="020B0604020202020204" charset="0"/>
                <a:cs typeface="Poppins Bold" panose="020B0604020202020204" charset="0"/>
              </a:rPr>
              <a:t>Team Name </a:t>
            </a:r>
            <a:r>
              <a:rPr lang="en-US" sz="2700" b="1" dirty="0">
                <a:latin typeface="Canva Sans" panose="020B0604020202020204" charset="0"/>
                <a:cs typeface="Arial" panose="020B0604020202020204" pitchFamily="34" charset="0"/>
              </a:rPr>
              <a:t>: </a:t>
            </a:r>
            <a:r>
              <a:rPr lang="en-US" sz="2700" dirty="0">
                <a:latin typeface="Canva Sans" panose="020B0604020202020204" charset="0"/>
                <a:cs typeface="Arial" panose="020B0604020202020204" pitchFamily="34" charset="0"/>
              </a:rPr>
              <a:t>Med Fusion</a:t>
            </a:r>
          </a:p>
          <a:p>
            <a:pPr marL="428625" indent="-42862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nva Sans" panose="020B0604020202020204" charset="0"/>
                <a:cs typeface="Arial" panose="020B0604020202020204" pitchFamily="34" charset="0"/>
              </a:rPr>
              <a:t>K. Karunakar, Anjana Rajagopal    Shraddha Kulkarni , </a:t>
            </a:r>
            <a:r>
              <a:rPr lang="en-US" sz="2700" dirty="0" err="1">
                <a:latin typeface="Canva Sans" panose="020B0604020202020204" charset="0"/>
                <a:cs typeface="Arial" panose="020B0604020202020204" pitchFamily="34" charset="0"/>
              </a:rPr>
              <a:t>Siddhesha</a:t>
            </a:r>
            <a:r>
              <a:rPr lang="en-US" sz="2700" dirty="0">
                <a:latin typeface="Canva Sans" panose="020B0604020202020204" charset="0"/>
                <a:cs typeface="Arial" panose="020B0604020202020204" pitchFamily="34" charset="0"/>
              </a:rPr>
              <a:t> A N , </a:t>
            </a:r>
          </a:p>
          <a:p>
            <a:pPr>
              <a:lnSpc>
                <a:spcPct val="200000"/>
              </a:lnSpc>
            </a:pPr>
            <a:r>
              <a:rPr lang="en-US" sz="2700" dirty="0">
                <a:latin typeface="Canva Sans" panose="020B0604020202020204" charset="0"/>
                <a:cs typeface="Arial" panose="020B0604020202020204" pitchFamily="34" charset="0"/>
              </a:rPr>
              <a:t>Swetha G S , Pooja Reddy N V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2084" y="176168"/>
            <a:ext cx="3374775" cy="159350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10A9763-B081-B319-CCA1-C47B9DC9CFD9}"/>
              </a:ext>
            </a:extLst>
          </p:cNvPr>
          <p:cNvGrpSpPr/>
          <p:nvPr/>
        </p:nvGrpSpPr>
        <p:grpSpPr>
          <a:xfrm>
            <a:off x="13795761" y="8648701"/>
            <a:ext cx="4311098" cy="1462132"/>
            <a:chOff x="11741310" y="7344029"/>
            <a:chExt cx="5617382" cy="190516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69CB8D3-5A39-A7B5-B627-06EB6B020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68768" y="7344029"/>
              <a:ext cx="1889924" cy="187468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03FCCE3-59E7-0C03-8978-15CDA4AEA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41310" y="7344029"/>
              <a:ext cx="1935648" cy="190516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654FAFC-6A93-EDBD-3DE7-C187905A0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63600" y="7344029"/>
              <a:ext cx="1935648" cy="18746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754380" y="1813560"/>
            <a:ext cx="5006340" cy="6377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6" name="Rounded Rectangle 5"/>
          <p:cNvSpPr/>
          <p:nvPr/>
        </p:nvSpPr>
        <p:spPr>
          <a:xfrm>
            <a:off x="6103621" y="1798320"/>
            <a:ext cx="5966459" cy="6377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7" name="Rounded Rectangle 6"/>
          <p:cNvSpPr/>
          <p:nvPr/>
        </p:nvSpPr>
        <p:spPr>
          <a:xfrm>
            <a:off x="12344400" y="1813560"/>
            <a:ext cx="5184648" cy="63779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8" name="TextBox 7"/>
          <p:cNvSpPr txBox="1"/>
          <p:nvPr/>
        </p:nvSpPr>
        <p:spPr>
          <a:xfrm>
            <a:off x="1600200" y="2029480"/>
            <a:ext cx="34788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dirty="0">
                <a:solidFill>
                  <a:srgbClr val="AA5C31"/>
                </a:solidFill>
                <a:latin typeface="Yu Gothic UI"/>
              </a:rPr>
              <a:t>CURRENT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50" y="2773680"/>
            <a:ext cx="39979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dirty="0">
                <a:solidFill>
                  <a:srgbClr val="23373E"/>
                </a:solidFill>
                <a:latin typeface="Yu Gothic UI"/>
              </a:rPr>
              <a:t>⚠ </a:t>
            </a:r>
            <a:r>
              <a:rPr lang="en-US" sz="2400" dirty="0">
                <a:solidFill>
                  <a:srgbClr val="23373E"/>
                </a:solidFill>
                <a:latin typeface="Yu Gothic UI"/>
              </a:rPr>
              <a:t>Food–drug interactions are often overlooked</a:t>
            </a:r>
            <a:endParaRPr sz="2400" dirty="0">
              <a:solidFill>
                <a:srgbClr val="23373E"/>
              </a:solidFill>
              <a:latin typeface="Yu Gothic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6800" y="3943171"/>
            <a:ext cx="46939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23373E"/>
                </a:solidFill>
                <a:latin typeface="Yu Gothic UI"/>
              </a:rPr>
              <a:t>⏱ Risk can depend on when food and medicine are taken</a:t>
            </a:r>
          </a:p>
          <a:p>
            <a:pPr algn="l"/>
            <a:endParaRPr sz="2400" dirty="0">
              <a:solidFill>
                <a:srgbClr val="23373E"/>
              </a:solidFill>
              <a:latin typeface="Yu Gothic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9849" y="4937760"/>
            <a:ext cx="43890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dirty="0">
                <a:solidFill>
                  <a:srgbClr val="23373E"/>
                </a:solidFill>
                <a:latin typeface="Yu Gothic UI"/>
              </a:rPr>
              <a:t>📱 </a:t>
            </a:r>
            <a:r>
              <a:rPr lang="en-US" sz="2400" dirty="0">
                <a:solidFill>
                  <a:srgbClr val="23373E"/>
                </a:solidFill>
                <a:latin typeface="Yu Gothic UI"/>
              </a:rPr>
              <a:t>Limited Guidelines</a:t>
            </a:r>
            <a:endParaRPr sz="2400" dirty="0">
              <a:solidFill>
                <a:srgbClr val="23373E"/>
              </a:solidFill>
              <a:latin typeface="Yu Gothic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69848" y="5736335"/>
            <a:ext cx="41120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dirty="0">
                <a:solidFill>
                  <a:srgbClr val="23373E"/>
                </a:solidFill>
                <a:latin typeface="Yu Gothic UI"/>
              </a:rPr>
              <a:t>👤 </a:t>
            </a:r>
            <a:r>
              <a:rPr lang="en-US" sz="2400" dirty="0">
                <a:solidFill>
                  <a:srgbClr val="23373E"/>
                </a:solidFill>
                <a:latin typeface="Yu Gothic UI"/>
              </a:rPr>
              <a:t>Missed - doses</a:t>
            </a:r>
            <a:endParaRPr sz="2400" dirty="0">
              <a:solidFill>
                <a:srgbClr val="23373E"/>
              </a:solidFill>
              <a:latin typeface="Yu Gothic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69848" y="6723888"/>
            <a:ext cx="43428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dirty="0">
                <a:solidFill>
                  <a:srgbClr val="23373E"/>
                </a:solidFill>
                <a:latin typeface="Yu Gothic UI"/>
              </a:rPr>
              <a:t>👨‍⚕ Professionals lack one combined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019300"/>
            <a:ext cx="192873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dirty="0">
                <a:solidFill>
                  <a:srgbClr val="0C695B"/>
                </a:solidFill>
                <a:latin typeface="Yu Gothic UI"/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9" y="2727960"/>
            <a:ext cx="493917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dirty="0">
                <a:solidFill>
                  <a:srgbClr val="23373E"/>
                </a:solidFill>
                <a:latin typeface="Yu Gothic UI"/>
              </a:rPr>
              <a:t>💊 Prescription-based schedule &amp; </a:t>
            </a:r>
            <a:endParaRPr lang="en-US" sz="2400" dirty="0">
              <a:solidFill>
                <a:srgbClr val="23373E"/>
              </a:solidFill>
              <a:latin typeface="Yu Gothic UI"/>
            </a:endParaRPr>
          </a:p>
          <a:p>
            <a:pPr algn="l"/>
            <a:r>
              <a:rPr sz="2400" dirty="0">
                <a:solidFill>
                  <a:srgbClr val="23373E"/>
                </a:solidFill>
                <a:latin typeface="Yu Gothic UI"/>
              </a:rPr>
              <a:t>reminders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790295"/>
            <a:ext cx="482696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dirty="0">
                <a:solidFill>
                  <a:srgbClr val="23373E"/>
                </a:solidFill>
                <a:latin typeface="Yu Gothic UI"/>
              </a:rPr>
              <a:t>🥗 Food intake tracking with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556760"/>
            <a:ext cx="474200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dirty="0">
                <a:solidFill>
                  <a:srgbClr val="23373E"/>
                </a:solidFill>
                <a:latin typeface="Yu Gothic UI"/>
              </a:rPr>
              <a:t>🔬 Validated drug–food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334000"/>
            <a:ext cx="57166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dirty="0">
                <a:solidFill>
                  <a:srgbClr val="23373E"/>
                </a:solidFill>
                <a:latin typeface="Yu Gothic UI"/>
              </a:rPr>
              <a:t>⏱ Temporal assessment of dose vs. food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3849" y="6080760"/>
            <a:ext cx="430278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dirty="0">
                <a:solidFill>
                  <a:srgbClr val="23373E"/>
                </a:solidFill>
                <a:latin typeface="Yu Gothic UI"/>
              </a:rPr>
              <a:t>🚨 Personalized severity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8608" y="6786372"/>
            <a:ext cx="539923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dirty="0">
                <a:solidFill>
                  <a:srgbClr val="23373E"/>
                </a:solidFill>
                <a:latin typeface="Yu Gothic UI"/>
              </a:rPr>
              <a:t>🤖 Food, timing &amp; exposure 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4304" y="7452360"/>
            <a:ext cx="387317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dirty="0">
                <a:solidFill>
                  <a:srgbClr val="23373E"/>
                </a:solidFill>
                <a:latin typeface="Yu Gothic UI"/>
              </a:rPr>
              <a:t>👨‍⚕ Professional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63600" y="2029480"/>
            <a:ext cx="28232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dirty="0">
                <a:solidFill>
                  <a:srgbClr val="0C695B"/>
                </a:solidFill>
                <a:latin typeface="Yu Gothic UI"/>
              </a:rPr>
              <a:t>HOW IT WORKS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728448" y="2677668"/>
            <a:ext cx="4416552" cy="713232"/>
          </a:xfrm>
          <a:prstGeom prst="roundRect">
            <a:avLst/>
          </a:prstGeom>
          <a:solidFill>
            <a:srgbClr val="EEF8F5"/>
          </a:solidFill>
          <a:ln w="12700">
            <a:solidFill>
              <a:srgbClr val="CD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5" name="TextBox 24"/>
          <p:cNvSpPr txBox="1"/>
          <p:nvPr/>
        </p:nvSpPr>
        <p:spPr>
          <a:xfrm>
            <a:off x="14065333" y="2746249"/>
            <a:ext cx="174278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>
                <a:solidFill>
                  <a:srgbClr val="0C695B"/>
                </a:solidFill>
                <a:latin typeface="Yu Gothic UI"/>
              </a:rPr>
              <a:t>PRESCRIPTION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46284" y="3048000"/>
            <a:ext cx="1580881" cy="2839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45">
                <a:solidFill>
                  <a:srgbClr val="56696F"/>
                </a:solidFill>
                <a:latin typeface="Yu Gothic UI"/>
              </a:rPr>
              <a:t>Drug + dose +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748211" y="3363469"/>
            <a:ext cx="37702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7D9491"/>
                </a:solidFill>
                <a:latin typeface="Yu Gothic UI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728448" y="3555492"/>
            <a:ext cx="4416552" cy="713232"/>
          </a:xfrm>
          <a:prstGeom prst="roundRect">
            <a:avLst/>
          </a:prstGeom>
          <a:solidFill>
            <a:srgbClr val="EEF8F5"/>
          </a:solidFill>
          <a:ln w="12700">
            <a:solidFill>
              <a:srgbClr val="CD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29" name="TextBox 28"/>
          <p:cNvSpPr txBox="1"/>
          <p:nvPr/>
        </p:nvSpPr>
        <p:spPr>
          <a:xfrm>
            <a:off x="14103803" y="3624073"/>
            <a:ext cx="166584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>
                <a:solidFill>
                  <a:srgbClr val="0C695B"/>
                </a:solidFill>
                <a:latin typeface="Yu Gothic UI"/>
              </a:rPr>
              <a:t>FOOD INTAKE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09977" y="3925824"/>
            <a:ext cx="1053494" cy="2839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45">
                <a:solidFill>
                  <a:srgbClr val="56696F"/>
                </a:solidFill>
                <a:latin typeface="Yu Gothic UI"/>
              </a:rPr>
              <a:t>Food +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748211" y="4241293"/>
            <a:ext cx="37702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7D9491"/>
                </a:solidFill>
                <a:latin typeface="Yu Gothic UI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728448" y="4433316"/>
            <a:ext cx="4416552" cy="713232"/>
          </a:xfrm>
          <a:prstGeom prst="roundRect">
            <a:avLst/>
          </a:prstGeom>
          <a:solidFill>
            <a:srgbClr val="EEF8F5"/>
          </a:solidFill>
          <a:ln w="12700">
            <a:solidFill>
              <a:srgbClr val="CD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3" name="TextBox 32"/>
          <p:cNvSpPr txBox="1"/>
          <p:nvPr/>
        </p:nvSpPr>
        <p:spPr>
          <a:xfrm>
            <a:off x="13335165" y="4501897"/>
            <a:ext cx="320312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>
                <a:solidFill>
                  <a:srgbClr val="0C695B"/>
                </a:solidFill>
                <a:latin typeface="Yu Gothic UI"/>
              </a:rPr>
              <a:t>FOOD COMPONENT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14838" y="4803648"/>
            <a:ext cx="1843773" cy="2839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45">
                <a:solidFill>
                  <a:srgbClr val="56696F"/>
                </a:solidFill>
                <a:latin typeface="Yu Gothic UI"/>
              </a:rPr>
              <a:t>Nutrients / constituents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748211" y="5119117"/>
            <a:ext cx="37702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7D9491"/>
                </a:solidFill>
                <a:latin typeface="Yu Gothic UI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728448" y="5311140"/>
            <a:ext cx="4416552" cy="713232"/>
          </a:xfrm>
          <a:prstGeom prst="roundRect">
            <a:avLst/>
          </a:prstGeom>
          <a:solidFill>
            <a:srgbClr val="EEF8F5"/>
          </a:solidFill>
          <a:ln w="12700">
            <a:solidFill>
              <a:srgbClr val="CD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37" name="TextBox 36"/>
          <p:cNvSpPr txBox="1"/>
          <p:nvPr/>
        </p:nvSpPr>
        <p:spPr>
          <a:xfrm>
            <a:off x="13633323" y="5379721"/>
            <a:ext cx="26068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>
                <a:solidFill>
                  <a:srgbClr val="0C695B"/>
                </a:solidFill>
                <a:latin typeface="Yu Gothic UI"/>
              </a:rPr>
              <a:t>VALIDATED DATABASE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933083" y="5681472"/>
            <a:ext cx="2007281" cy="2839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45" dirty="0">
                <a:solidFill>
                  <a:srgbClr val="56696F"/>
                </a:solidFill>
                <a:latin typeface="Yu Gothic UI"/>
              </a:rPr>
              <a:t>FDA • </a:t>
            </a:r>
            <a:r>
              <a:rPr sz="1245" dirty="0" err="1">
                <a:solidFill>
                  <a:srgbClr val="56696F"/>
                </a:solidFill>
                <a:latin typeface="Yu Gothic UI"/>
              </a:rPr>
              <a:t>DailyMed</a:t>
            </a:r>
            <a:r>
              <a:rPr sz="1245" dirty="0">
                <a:solidFill>
                  <a:srgbClr val="56696F"/>
                </a:solidFill>
                <a:latin typeface="Yu Gothic UI"/>
              </a:rPr>
              <a:t> • labeling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748211" y="5996941"/>
            <a:ext cx="37702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7D9491"/>
                </a:solidFill>
                <a:latin typeface="Yu Gothic UI"/>
              </a:rP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728448" y="6188964"/>
            <a:ext cx="4416552" cy="713232"/>
          </a:xfrm>
          <a:prstGeom prst="roundRect">
            <a:avLst/>
          </a:prstGeom>
          <a:solidFill>
            <a:srgbClr val="EEF8F5"/>
          </a:solidFill>
          <a:ln w="12700">
            <a:solidFill>
              <a:srgbClr val="CD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41" name="TextBox 40"/>
          <p:cNvSpPr txBox="1"/>
          <p:nvPr/>
        </p:nvSpPr>
        <p:spPr>
          <a:xfrm>
            <a:off x="13515502" y="6257545"/>
            <a:ext cx="284244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>
                <a:solidFill>
                  <a:srgbClr val="0C695B"/>
                </a:solidFill>
                <a:latin typeface="Yu Gothic UI"/>
              </a:rPr>
              <a:t>TEMPORAL ASSESSMENT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022051" y="6559296"/>
            <a:ext cx="1829347" cy="2839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45" dirty="0">
                <a:solidFill>
                  <a:srgbClr val="56696F"/>
                </a:solidFill>
                <a:latin typeface="Yu Gothic UI"/>
              </a:rPr>
              <a:t>Drug time ↔ food 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748211" y="6874765"/>
            <a:ext cx="37702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7D9491"/>
                </a:solidFill>
                <a:latin typeface="Yu Gothic UI"/>
              </a:rPr>
              <a:t>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728448" y="7066788"/>
            <a:ext cx="4416552" cy="713232"/>
          </a:xfrm>
          <a:prstGeom prst="roundRect">
            <a:avLst/>
          </a:prstGeom>
          <a:solidFill>
            <a:srgbClr val="EEF8F5"/>
          </a:solidFill>
          <a:ln w="12700">
            <a:solidFill>
              <a:srgbClr val="CD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45" name="TextBox 44"/>
          <p:cNvSpPr txBox="1"/>
          <p:nvPr/>
        </p:nvSpPr>
        <p:spPr>
          <a:xfrm>
            <a:off x="14401161" y="7135369"/>
            <a:ext cx="107112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>
                <a:solidFill>
                  <a:srgbClr val="0C695B"/>
                </a:solidFill>
                <a:latin typeface="Yu Gothic UI"/>
              </a:rPr>
              <a:t>OUTPUT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865758" y="7437120"/>
            <a:ext cx="2141932" cy="2839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45">
                <a:solidFill>
                  <a:srgbClr val="56696F"/>
                </a:solidFill>
                <a:latin typeface="Yu Gothic UI"/>
              </a:rPr>
              <a:t>Severity + recommendation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4380" y="8422838"/>
            <a:ext cx="12275820" cy="1109472"/>
          </a:xfrm>
          <a:prstGeom prst="roundRect">
            <a:avLst/>
          </a:prstGeom>
          <a:solidFill>
            <a:srgbClr val="0C695B"/>
          </a:solidFill>
          <a:ln w="12700">
            <a:solidFill>
              <a:srgbClr val="0C6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53" name="TextBox 52"/>
          <p:cNvSpPr txBox="1"/>
          <p:nvPr/>
        </p:nvSpPr>
        <p:spPr>
          <a:xfrm>
            <a:off x="2372446" y="8576101"/>
            <a:ext cx="86163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Yu Gothic UI"/>
              </a:rPr>
              <a:t>MEDI MIND brings these safety signals together in one patient centered companion</a:t>
            </a:r>
            <a:endParaRPr sz="2400" b="1" dirty="0">
              <a:solidFill>
                <a:srgbClr val="FFFFFF"/>
              </a:solidFill>
              <a:latin typeface="Yu Gothic UI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7FA2ED6-B753-E16E-22A7-A132E6CEE6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0129" y="2251"/>
            <a:ext cx="3374775" cy="1593506"/>
          </a:xfrm>
          <a:prstGeom prst="rect">
            <a:avLst/>
          </a:prstGeom>
        </p:spPr>
      </p:pic>
      <p:sp>
        <p:nvSpPr>
          <p:cNvPr id="58" name="TextBox 27">
            <a:extLst>
              <a:ext uri="{FF2B5EF4-FFF2-40B4-BE49-F238E27FC236}">
                <a16:creationId xmlns:a16="http://schemas.microsoft.com/office/drawing/2014/main" id="{CD378B1B-0201-E4EB-EFED-B3D184CDD667}"/>
              </a:ext>
            </a:extLst>
          </p:cNvPr>
          <p:cNvSpPr txBox="1"/>
          <p:nvPr/>
        </p:nvSpPr>
        <p:spPr>
          <a:xfrm>
            <a:off x="2705100" y="-220488"/>
            <a:ext cx="4457700" cy="1249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332"/>
              </a:lnSpc>
            </a:pPr>
            <a:r>
              <a:rPr lang="en-US" sz="7200" b="1" dirty="0">
                <a:solidFill>
                  <a:srgbClr val="009B7D"/>
                </a:solidFill>
                <a:latin typeface="Poppins Bold"/>
                <a:ea typeface="Poppins Bold"/>
                <a:cs typeface="Poppins Bold"/>
                <a:sym typeface="Poppins Bold"/>
              </a:rPr>
              <a:t>MEDI</a:t>
            </a:r>
          </a:p>
        </p:txBody>
      </p:sp>
      <p:sp>
        <p:nvSpPr>
          <p:cNvPr id="60" name="TextBox 27">
            <a:extLst>
              <a:ext uri="{FF2B5EF4-FFF2-40B4-BE49-F238E27FC236}">
                <a16:creationId xmlns:a16="http://schemas.microsoft.com/office/drawing/2014/main" id="{2165069D-6ACE-C0A9-7AC2-F617D0DF0D79}"/>
              </a:ext>
            </a:extLst>
          </p:cNvPr>
          <p:cNvSpPr txBox="1"/>
          <p:nvPr/>
        </p:nvSpPr>
        <p:spPr>
          <a:xfrm>
            <a:off x="2705100" y="617712"/>
            <a:ext cx="4457700" cy="1249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332"/>
              </a:lnSpc>
            </a:pPr>
            <a:r>
              <a:rPr lang="en-US" sz="7200" b="1" dirty="0">
                <a:solidFill>
                  <a:srgbClr val="283328"/>
                </a:solidFill>
                <a:latin typeface="Poppins Bold"/>
                <a:ea typeface="Poppins Bold"/>
                <a:cs typeface="Poppins Bold"/>
                <a:sym typeface="Poppins Bold"/>
              </a:rPr>
              <a:t>MIND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D5EC0E67-175E-8F17-BAF7-E12FF17F20E1}"/>
              </a:ext>
            </a:extLst>
          </p:cNvPr>
          <p:cNvSpPr/>
          <p:nvPr/>
        </p:nvSpPr>
        <p:spPr>
          <a:xfrm>
            <a:off x="5486400" y="89452"/>
            <a:ext cx="8839200" cy="1472648"/>
          </a:xfrm>
          <a:prstGeom prst="roundRect">
            <a:avLst>
              <a:gd name="adj" fmla="val 50000"/>
            </a:avLst>
          </a:prstGeom>
          <a:noFill/>
          <a:ln w="63500">
            <a:solidFill>
              <a:srgbClr val="2833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28">
            <a:extLst>
              <a:ext uri="{FF2B5EF4-FFF2-40B4-BE49-F238E27FC236}">
                <a16:creationId xmlns:a16="http://schemas.microsoft.com/office/drawing/2014/main" id="{FA61D387-AB24-2CEB-F37A-C90AFF99778B}"/>
              </a:ext>
            </a:extLst>
          </p:cNvPr>
          <p:cNvSpPr txBox="1"/>
          <p:nvPr/>
        </p:nvSpPr>
        <p:spPr>
          <a:xfrm>
            <a:off x="6061592" y="206877"/>
            <a:ext cx="7959208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41"/>
              </a:lnSpc>
            </a:pPr>
            <a:r>
              <a:rPr lang="en-US" sz="4000" b="1" dirty="0">
                <a:solidFill>
                  <a:srgbClr val="283328"/>
                </a:solidFill>
                <a:latin typeface="Poppins Bold"/>
                <a:ea typeface="Poppins Bold"/>
                <a:cs typeface="Poppins Bold"/>
                <a:sym typeface="Poppins Bold"/>
              </a:rPr>
              <a:t>Your AI-Assisted Medication Companion</a:t>
            </a:r>
          </a:p>
        </p:txBody>
      </p:sp>
      <p:sp>
        <p:nvSpPr>
          <p:cNvPr id="66" name="Oval 65" descr="Your startup LOGO">
            <a:extLst>
              <a:ext uri="{FF2B5EF4-FFF2-40B4-BE49-F238E27FC236}">
                <a16:creationId xmlns:a16="http://schemas.microsoft.com/office/drawing/2014/main" id="{B0733A52-0D01-5730-BCDA-D7339B1AD4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94660" y="378369"/>
            <a:ext cx="1877786" cy="121100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700" b="1" dirty="0"/>
              <a:t>Med Fusion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456D561-6C0B-4FF4-1FF3-4EEC78F8822D}"/>
              </a:ext>
            </a:extLst>
          </p:cNvPr>
          <p:cNvGrpSpPr/>
          <p:nvPr/>
        </p:nvGrpSpPr>
        <p:grpSpPr>
          <a:xfrm>
            <a:off x="13972812" y="8389859"/>
            <a:ext cx="4311098" cy="1338424"/>
            <a:chOff x="11741310" y="7300341"/>
            <a:chExt cx="5617382" cy="1918370"/>
          </a:xfrm>
        </p:grpSpPr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A6C0BB73-B0A4-86E0-1671-B3FEDB4F6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68768" y="7344029"/>
              <a:ext cx="1889924" cy="1874682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0C742A86-B540-E02A-0CA8-87D779308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41310" y="7300341"/>
              <a:ext cx="1935648" cy="1905165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E81BC3ED-6045-A47F-6D98-509D9AFDD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63600" y="7344029"/>
              <a:ext cx="1935648" cy="1874682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7D1769C-EBB3-4885-7F6B-85021F833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825103"/>
            <a:ext cx="18288000" cy="46189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49" name="Footer Placeholder 6">
            <a:extLst>
              <a:ext uri="{FF2B5EF4-FFF2-40B4-BE49-F238E27FC236}">
                <a16:creationId xmlns:a16="http://schemas.microsoft.com/office/drawing/2014/main" id="{C0BB2A0A-2B0C-C00C-F09B-E4ACEFBAB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4380" y="9805787"/>
            <a:ext cx="16619220" cy="525360"/>
          </a:xfrm>
        </p:spPr>
        <p:txBody>
          <a:bodyPr/>
          <a:lstStyle/>
          <a:p>
            <a:pPr>
              <a:defRPr/>
            </a:pPr>
            <a:r>
              <a:rPr lang="en-US" sz="1800" dirty="0">
                <a:solidFill>
                  <a:schemeClr val="bg1"/>
                </a:solidFill>
              </a:rPr>
              <a:t>@SIH Idea submission  -  COPS and SOE, DSU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43096" y="284643"/>
            <a:ext cx="1879092" cy="12070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700"/>
          </a:p>
        </p:txBody>
      </p:sp>
      <p:sp>
        <p:nvSpPr>
          <p:cNvPr id="3" name="TextBox 2"/>
          <p:cNvSpPr txBox="1"/>
          <p:nvPr/>
        </p:nvSpPr>
        <p:spPr>
          <a:xfrm>
            <a:off x="503700" y="507875"/>
            <a:ext cx="1357884" cy="7848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50" b="1" dirty="0">
                <a:solidFill>
                  <a:srgbClr val="111111"/>
                </a:solidFill>
                <a:latin typeface="Arial"/>
              </a:rPr>
              <a:t>Med
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4263" y="357889"/>
            <a:ext cx="11247119" cy="7848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500" b="1" dirty="0">
                <a:solidFill>
                  <a:srgbClr val="000000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40" y="1610752"/>
            <a:ext cx="3223260" cy="4847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50" b="1" dirty="0">
                <a:solidFill>
                  <a:srgbClr val="111111"/>
                </a:solidFill>
                <a:latin typeface="Arial"/>
              </a:rPr>
              <a:t>•   Technologies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1524554"/>
            <a:ext cx="13098780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dirty="0">
                <a:solidFill>
                  <a:srgbClr val="111111"/>
                </a:solidFill>
                <a:latin typeface="Arial"/>
              </a:rPr>
              <a:t>•   Frontend: HTML5 / CSS3 / JavaScript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1908602"/>
            <a:ext cx="13098780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dirty="0">
                <a:solidFill>
                  <a:srgbClr val="111111"/>
                </a:solidFill>
                <a:latin typeface="Arial"/>
              </a:rPr>
              <a:t>•   Backend: Python Fast API / Node.js for profiles.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469628"/>
            <a:ext cx="3072384" cy="377889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700"/>
          </a:p>
        </p:txBody>
      </p:sp>
      <p:sp>
        <p:nvSpPr>
          <p:cNvPr id="14" name="Rounded Rectangle 13"/>
          <p:cNvSpPr/>
          <p:nvPr/>
        </p:nvSpPr>
        <p:spPr>
          <a:xfrm>
            <a:off x="384048" y="2359067"/>
            <a:ext cx="3072384" cy="915293"/>
          </a:xfrm>
          <a:prstGeom prst="roundRect">
            <a:avLst/>
          </a:prstGeom>
          <a:solidFill>
            <a:srgbClr val="1769A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700"/>
          </a:p>
        </p:txBody>
      </p:sp>
      <p:sp>
        <p:nvSpPr>
          <p:cNvPr id="17" name="TextBox 16"/>
          <p:cNvSpPr txBox="1"/>
          <p:nvPr/>
        </p:nvSpPr>
        <p:spPr>
          <a:xfrm>
            <a:off x="-12192" y="2496052"/>
            <a:ext cx="3880103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Prescription</a:t>
            </a:r>
            <a:r>
              <a:rPr lang="en-US" sz="2800" b="1" dirty="0">
                <a:solidFill>
                  <a:srgbClr val="FFFFFF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sz="2800" b="1" dirty="0">
                <a:solidFill>
                  <a:srgbClr val="FFFFFF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Input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97449" y="2641580"/>
            <a:ext cx="2936750" cy="36258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C8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700"/>
          </a:p>
        </p:txBody>
      </p:sp>
      <p:sp>
        <p:nvSpPr>
          <p:cNvPr id="29" name="Rounded Rectangle 28"/>
          <p:cNvSpPr/>
          <p:nvPr/>
        </p:nvSpPr>
        <p:spPr>
          <a:xfrm>
            <a:off x="3997448" y="2361906"/>
            <a:ext cx="2936752" cy="956843"/>
          </a:xfrm>
          <a:prstGeom prst="roundRect">
            <a:avLst/>
          </a:prstGeom>
          <a:solidFill>
            <a:srgbClr val="3C8D2F"/>
          </a:solidFill>
          <a:ln>
            <a:solidFill>
              <a:srgbClr val="3C8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700"/>
          </a:p>
        </p:txBody>
      </p:sp>
      <p:sp>
        <p:nvSpPr>
          <p:cNvPr id="40" name="Rounded Rectangle 39"/>
          <p:cNvSpPr/>
          <p:nvPr/>
        </p:nvSpPr>
        <p:spPr>
          <a:xfrm>
            <a:off x="7467600" y="2469627"/>
            <a:ext cx="2971800" cy="3797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A4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700"/>
          </a:p>
        </p:txBody>
      </p:sp>
      <p:sp>
        <p:nvSpPr>
          <p:cNvPr id="41" name="Rounded Rectangle 40"/>
          <p:cNvSpPr/>
          <p:nvPr/>
        </p:nvSpPr>
        <p:spPr>
          <a:xfrm>
            <a:off x="7467600" y="2359067"/>
            <a:ext cx="2971800" cy="968819"/>
          </a:xfrm>
          <a:prstGeom prst="roundRect">
            <a:avLst/>
          </a:prstGeom>
          <a:solidFill>
            <a:srgbClr val="6A4FB3"/>
          </a:solidFill>
          <a:ln>
            <a:solidFill>
              <a:srgbClr val="6A4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700"/>
          </a:p>
        </p:txBody>
      </p:sp>
      <p:sp>
        <p:nvSpPr>
          <p:cNvPr id="44" name="TextBox 43"/>
          <p:cNvSpPr txBox="1"/>
          <p:nvPr/>
        </p:nvSpPr>
        <p:spPr>
          <a:xfrm>
            <a:off x="7651246" y="2448309"/>
            <a:ext cx="2711954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Arial"/>
              </a:rPr>
              <a:t>Food Component
Analysis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736580" y="2469626"/>
            <a:ext cx="3436619" cy="381230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27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700"/>
          </a:p>
        </p:txBody>
      </p:sp>
      <p:sp>
        <p:nvSpPr>
          <p:cNvPr id="56" name="Rounded Rectangle 55"/>
          <p:cNvSpPr/>
          <p:nvPr/>
        </p:nvSpPr>
        <p:spPr>
          <a:xfrm>
            <a:off x="10736580" y="2324100"/>
            <a:ext cx="3436620" cy="994650"/>
          </a:xfrm>
          <a:prstGeom prst="roundRect">
            <a:avLst/>
          </a:prstGeom>
          <a:solidFill>
            <a:srgbClr val="F27C0D"/>
          </a:solidFill>
          <a:ln>
            <a:solidFill>
              <a:srgbClr val="F27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700"/>
          </a:p>
        </p:txBody>
      </p:sp>
      <p:sp>
        <p:nvSpPr>
          <p:cNvPr id="59" name="TextBox 58"/>
          <p:cNvSpPr txBox="1"/>
          <p:nvPr/>
        </p:nvSpPr>
        <p:spPr>
          <a:xfrm>
            <a:off x="10869167" y="2412072"/>
            <a:ext cx="3252215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Validated Interaction
Database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4470379" y="2708656"/>
            <a:ext cx="3665222" cy="353986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78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700"/>
          </a:p>
        </p:txBody>
      </p:sp>
      <p:sp>
        <p:nvSpPr>
          <p:cNvPr id="76" name="Rounded Rectangle 75"/>
          <p:cNvSpPr/>
          <p:nvPr/>
        </p:nvSpPr>
        <p:spPr>
          <a:xfrm>
            <a:off x="14470379" y="2324609"/>
            <a:ext cx="3665222" cy="987552"/>
          </a:xfrm>
          <a:prstGeom prst="roundRect">
            <a:avLst/>
          </a:prstGeom>
          <a:solidFill>
            <a:srgbClr val="078C8B"/>
          </a:solidFill>
          <a:ln>
            <a:solidFill>
              <a:srgbClr val="078C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700"/>
          </a:p>
        </p:txBody>
      </p:sp>
      <p:sp>
        <p:nvSpPr>
          <p:cNvPr id="79" name="TextBox 78"/>
          <p:cNvSpPr txBox="1"/>
          <p:nvPr/>
        </p:nvSpPr>
        <p:spPr>
          <a:xfrm>
            <a:off x="14616682" y="2404221"/>
            <a:ext cx="3518918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Interaction Assessment
(AI-Powered)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84047" y="7547908"/>
            <a:ext cx="13537689" cy="193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A5B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700"/>
          </a:p>
        </p:txBody>
      </p:sp>
      <p:sp>
        <p:nvSpPr>
          <p:cNvPr id="95" name="Rounded Rectangle 94"/>
          <p:cNvSpPr/>
          <p:nvPr/>
        </p:nvSpPr>
        <p:spPr>
          <a:xfrm>
            <a:off x="5638813" y="6882875"/>
            <a:ext cx="4267184" cy="548640"/>
          </a:xfrm>
          <a:prstGeom prst="roundRect">
            <a:avLst/>
          </a:prstGeom>
          <a:solidFill>
            <a:srgbClr val="1D477C"/>
          </a:solidFill>
          <a:ln>
            <a:solidFill>
              <a:srgbClr val="1D47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700"/>
          </a:p>
        </p:txBody>
      </p:sp>
      <p:sp>
        <p:nvSpPr>
          <p:cNvPr id="96" name="TextBox 95"/>
          <p:cNvSpPr txBox="1"/>
          <p:nvPr/>
        </p:nvSpPr>
        <p:spPr>
          <a:xfrm>
            <a:off x="5638813" y="6931971"/>
            <a:ext cx="4267183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Arial"/>
              </a:rPr>
              <a:t>Outputs for Patient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4196060" y="6955864"/>
            <a:ext cx="3456432" cy="20162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9A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700"/>
          </a:p>
        </p:txBody>
      </p:sp>
      <p:sp>
        <p:nvSpPr>
          <p:cNvPr id="122" name="Rounded Rectangle 121"/>
          <p:cNvSpPr/>
          <p:nvPr/>
        </p:nvSpPr>
        <p:spPr>
          <a:xfrm>
            <a:off x="14196060" y="6667500"/>
            <a:ext cx="3456432" cy="537986"/>
          </a:xfrm>
          <a:prstGeom prst="roundRect">
            <a:avLst/>
          </a:prstGeom>
          <a:solidFill>
            <a:srgbClr val="19743E"/>
          </a:solidFill>
          <a:ln>
            <a:solidFill>
              <a:srgbClr val="197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700"/>
          </a:p>
        </p:txBody>
      </p:sp>
      <p:sp>
        <p:nvSpPr>
          <p:cNvPr id="123" name="TextBox 122"/>
          <p:cNvSpPr txBox="1"/>
          <p:nvPr/>
        </p:nvSpPr>
        <p:spPr>
          <a:xfrm>
            <a:off x="14401800" y="6686116"/>
            <a:ext cx="290779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Dashboards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" y="11373612"/>
            <a:ext cx="18287543" cy="246888"/>
          </a:xfrm>
          <a:prstGeom prst="rect">
            <a:avLst/>
          </a:prstGeom>
          <a:solidFill>
            <a:srgbClr val="0075B8"/>
          </a:solidFill>
          <a:ln>
            <a:solidFill>
              <a:srgbClr val="007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700"/>
          </a:p>
        </p:txBody>
      </p:sp>
      <p:sp>
        <p:nvSpPr>
          <p:cNvPr id="143" name="TextBox 142"/>
          <p:cNvSpPr txBox="1"/>
          <p:nvPr/>
        </p:nvSpPr>
        <p:spPr>
          <a:xfrm>
            <a:off x="6652260" y="11350612"/>
            <a:ext cx="6858000" cy="2654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Arial"/>
              </a:rPr>
              <a:t>@SIH Idea submission  -  COPS and SOE, DSU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4353C1C-1C77-DD42-433B-8B5D4633A74E}"/>
              </a:ext>
            </a:extLst>
          </p:cNvPr>
          <p:cNvSpPr txBox="1"/>
          <p:nvPr/>
        </p:nvSpPr>
        <p:spPr>
          <a:xfrm>
            <a:off x="4038599" y="2611383"/>
            <a:ext cx="28194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rial"/>
              </a:rPr>
              <a:t>Food intake input</a:t>
            </a:r>
            <a:endParaRPr sz="2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8399987-A7D3-A17A-3D6B-F5F1890B31AC}"/>
              </a:ext>
            </a:extLst>
          </p:cNvPr>
          <p:cNvSpPr txBox="1"/>
          <p:nvPr/>
        </p:nvSpPr>
        <p:spPr>
          <a:xfrm>
            <a:off x="429767" y="4277839"/>
            <a:ext cx="31927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73E"/>
                </a:solidFill>
                <a:latin typeface="Yu Gothic UI"/>
              </a:rPr>
              <a:t>Drug name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73E"/>
                </a:solidFill>
                <a:latin typeface="Yu Gothic UI"/>
              </a:rPr>
              <a:t>Dose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73E"/>
                </a:solidFill>
                <a:latin typeface="Yu Gothic UI"/>
              </a:rPr>
              <a:t>Frequency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73E"/>
                </a:solidFill>
                <a:latin typeface="Yu Gothic UI"/>
              </a:rPr>
              <a:t>Administration Timing</a:t>
            </a:r>
            <a:endParaRPr sz="2400" dirty="0">
              <a:solidFill>
                <a:srgbClr val="23373E"/>
              </a:solidFill>
              <a:latin typeface="Yu Gothic UI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2856462F-1EFE-7135-D24E-3AF80D9F1B3E}"/>
              </a:ext>
            </a:extLst>
          </p:cNvPr>
          <p:cNvSpPr txBox="1"/>
          <p:nvPr/>
        </p:nvSpPr>
        <p:spPr>
          <a:xfrm>
            <a:off x="4069139" y="4282785"/>
            <a:ext cx="25831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73E"/>
                </a:solidFill>
                <a:latin typeface="Yu Gothic UI"/>
              </a:rPr>
              <a:t>Food entry </a:t>
            </a:r>
          </a:p>
          <a:p>
            <a:pPr marL="228600" indent="-228600" algn="l"/>
            <a:r>
              <a:rPr lang="en-US" sz="2400" dirty="0">
                <a:solidFill>
                  <a:srgbClr val="23373E"/>
                </a:solidFill>
                <a:latin typeface="Yu Gothic UI"/>
              </a:rPr>
              <a:t>(by patient)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73E"/>
                </a:solidFill>
                <a:latin typeface="Yu Gothic UI"/>
              </a:rPr>
              <a:t>Meal timing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EDB48FD-DE26-E063-A7E4-D9A5A05E01CE}"/>
              </a:ext>
            </a:extLst>
          </p:cNvPr>
          <p:cNvSpPr txBox="1"/>
          <p:nvPr/>
        </p:nvSpPr>
        <p:spPr>
          <a:xfrm>
            <a:off x="7467600" y="4305300"/>
            <a:ext cx="2971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73E"/>
                </a:solidFill>
                <a:latin typeface="Yu Gothic UI"/>
              </a:rPr>
              <a:t>Identifies relevant food constituents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73E"/>
                </a:solidFill>
                <a:latin typeface="Yu Gothic UI"/>
              </a:rPr>
              <a:t>Ca, </a:t>
            </a:r>
            <a:r>
              <a:rPr lang="en-US" sz="2400" dirty="0" err="1">
                <a:solidFill>
                  <a:srgbClr val="23373E"/>
                </a:solidFill>
                <a:latin typeface="Yu Gothic UI"/>
              </a:rPr>
              <a:t>Vit.K</a:t>
            </a:r>
            <a:r>
              <a:rPr lang="en-US" sz="2400" dirty="0">
                <a:solidFill>
                  <a:srgbClr val="23373E"/>
                </a:solidFill>
                <a:latin typeface="Yu Gothic UI"/>
              </a:rPr>
              <a:t>, Caffeine, Tyramine, fruits etc.</a:t>
            </a:r>
            <a:endParaRPr sz="2400" dirty="0">
              <a:solidFill>
                <a:srgbClr val="23373E"/>
              </a:solidFill>
              <a:latin typeface="Yu Gothic UI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436869A-A9D0-E4E0-37A7-787D6B903B64}"/>
              </a:ext>
            </a:extLst>
          </p:cNvPr>
          <p:cNvSpPr txBox="1"/>
          <p:nvPr/>
        </p:nvSpPr>
        <p:spPr>
          <a:xfrm>
            <a:off x="10869168" y="4305300"/>
            <a:ext cx="337261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73E"/>
                </a:solidFill>
                <a:latin typeface="Yu Gothic UI"/>
              </a:rPr>
              <a:t>Regulatory – grade interactions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73E"/>
                </a:solidFill>
                <a:latin typeface="Yu Gothic UI"/>
              </a:rPr>
              <a:t>Severity classifications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73E"/>
                </a:solidFill>
                <a:latin typeface="Yu Gothic UI"/>
              </a:rPr>
              <a:t>Evidence and source</a:t>
            </a:r>
            <a:endParaRPr sz="2400" dirty="0">
              <a:solidFill>
                <a:srgbClr val="23373E"/>
              </a:solidFill>
              <a:latin typeface="Yu Gothic UI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0564264-14D0-2424-F9C7-A0185A9F2247}"/>
              </a:ext>
            </a:extLst>
          </p:cNvPr>
          <p:cNvSpPr txBox="1"/>
          <p:nvPr/>
        </p:nvSpPr>
        <p:spPr>
          <a:xfrm>
            <a:off x="14502384" y="4271308"/>
            <a:ext cx="366522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73E"/>
                </a:solidFill>
                <a:latin typeface="Yu Gothic UI"/>
              </a:rPr>
              <a:t>Drug specific evaluation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73E"/>
                </a:solidFill>
                <a:latin typeface="Yu Gothic UI"/>
              </a:rPr>
              <a:t>Temporal assessment</a:t>
            </a:r>
            <a:br>
              <a:rPr lang="en-US" sz="2400" dirty="0">
                <a:solidFill>
                  <a:srgbClr val="23373E"/>
                </a:solidFill>
                <a:latin typeface="Yu Gothic UI"/>
              </a:rPr>
            </a:br>
            <a:r>
              <a:rPr lang="en-US" sz="2400" dirty="0">
                <a:solidFill>
                  <a:srgbClr val="23373E"/>
                </a:solidFill>
                <a:latin typeface="Yu Gothic UI"/>
              </a:rPr>
              <a:t>Severity scoring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373E"/>
                </a:solidFill>
                <a:latin typeface="Yu Gothic UI"/>
              </a:rPr>
              <a:t>Clinical recommendation</a:t>
            </a:r>
            <a:endParaRPr sz="2400" dirty="0">
              <a:solidFill>
                <a:srgbClr val="23373E"/>
              </a:solidFill>
              <a:latin typeface="Yu Gothic UI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25B993D-5783-BB4F-C0F5-60320132F5E1}"/>
              </a:ext>
            </a:extLst>
          </p:cNvPr>
          <p:cNvSpPr txBox="1"/>
          <p:nvPr/>
        </p:nvSpPr>
        <p:spPr>
          <a:xfrm>
            <a:off x="654645" y="8559275"/>
            <a:ext cx="13265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3373E"/>
                </a:solidFill>
                <a:latin typeface="Yu Gothic UI"/>
              </a:rPr>
              <a:t>Patient </a:t>
            </a:r>
          </a:p>
          <a:p>
            <a:pPr algn="ctr"/>
            <a:r>
              <a:rPr lang="en-US" sz="2400" dirty="0">
                <a:solidFill>
                  <a:srgbClr val="23373E"/>
                </a:solidFill>
                <a:latin typeface="Yu Gothic UI"/>
              </a:rPr>
              <a:t>Alerts</a:t>
            </a:r>
            <a:endParaRPr sz="2400" dirty="0">
              <a:solidFill>
                <a:srgbClr val="23373E"/>
              </a:solidFill>
              <a:latin typeface="Yu Gothic UI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965360E7-2E01-5172-A537-9EDFC33CAAF4}"/>
              </a:ext>
            </a:extLst>
          </p:cNvPr>
          <p:cNvSpPr txBox="1"/>
          <p:nvPr/>
        </p:nvSpPr>
        <p:spPr>
          <a:xfrm>
            <a:off x="2385535" y="8566478"/>
            <a:ext cx="17018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3373E"/>
                </a:solidFill>
                <a:latin typeface="Yu Gothic UI"/>
              </a:rPr>
              <a:t>Alternative </a:t>
            </a:r>
          </a:p>
          <a:p>
            <a:pPr algn="ctr"/>
            <a:r>
              <a:rPr lang="en-US" sz="2400" dirty="0">
                <a:solidFill>
                  <a:srgbClr val="23373E"/>
                </a:solidFill>
                <a:latin typeface="Yu Gothic UI"/>
              </a:rPr>
              <a:t>Foods</a:t>
            </a:r>
            <a:endParaRPr sz="2400" dirty="0">
              <a:solidFill>
                <a:srgbClr val="23373E"/>
              </a:solidFill>
              <a:latin typeface="Yu Gothic UI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75970CA3-1751-BDC1-4628-DD99002E16D8}"/>
              </a:ext>
            </a:extLst>
          </p:cNvPr>
          <p:cNvSpPr txBox="1"/>
          <p:nvPr/>
        </p:nvSpPr>
        <p:spPr>
          <a:xfrm>
            <a:off x="4267200" y="8566478"/>
            <a:ext cx="2133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3373E"/>
                </a:solidFill>
                <a:latin typeface="Yu Gothic UI"/>
              </a:rPr>
              <a:t>Timing </a:t>
            </a:r>
          </a:p>
          <a:p>
            <a:pPr algn="ctr"/>
            <a:r>
              <a:rPr lang="en-US" sz="2400" dirty="0">
                <a:solidFill>
                  <a:srgbClr val="23373E"/>
                </a:solidFill>
                <a:latin typeface="Yu Gothic UI"/>
              </a:rPr>
              <a:t>Modification </a:t>
            </a:r>
            <a:endParaRPr sz="2400" dirty="0">
              <a:solidFill>
                <a:srgbClr val="23373E"/>
              </a:solidFill>
              <a:latin typeface="Yu Gothic UI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07E8364A-6D0B-44D8-8FCF-CAE5C9D8EAE0}"/>
              </a:ext>
            </a:extLst>
          </p:cNvPr>
          <p:cNvSpPr txBox="1"/>
          <p:nvPr/>
        </p:nvSpPr>
        <p:spPr>
          <a:xfrm>
            <a:off x="6477000" y="8603309"/>
            <a:ext cx="26898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3373E"/>
                </a:solidFill>
                <a:latin typeface="Yu Gothic UI"/>
              </a:rPr>
              <a:t>Clinical Dashboard</a:t>
            </a:r>
            <a:endParaRPr sz="2400" dirty="0">
              <a:solidFill>
                <a:srgbClr val="23373E"/>
              </a:solidFill>
              <a:latin typeface="Yu Gothic UI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D2311AFF-D9EF-795D-FA09-013DC97A8F29}"/>
              </a:ext>
            </a:extLst>
          </p:cNvPr>
          <p:cNvSpPr txBox="1"/>
          <p:nvPr/>
        </p:nvSpPr>
        <p:spPr>
          <a:xfrm>
            <a:off x="9098280" y="8627438"/>
            <a:ext cx="2362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3373E"/>
                </a:solidFill>
                <a:latin typeface="Yu Gothic UI"/>
              </a:rPr>
              <a:t>Evidence, Source</a:t>
            </a:r>
            <a:endParaRPr sz="2400" dirty="0">
              <a:solidFill>
                <a:srgbClr val="23373E"/>
              </a:solidFill>
              <a:latin typeface="Yu Gothic UI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21F5485-E96D-E3F7-2888-1D2663B3C36B}"/>
              </a:ext>
            </a:extLst>
          </p:cNvPr>
          <p:cNvSpPr txBox="1"/>
          <p:nvPr/>
        </p:nvSpPr>
        <p:spPr>
          <a:xfrm>
            <a:off x="11382752" y="8655903"/>
            <a:ext cx="2362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3373E"/>
                </a:solidFill>
                <a:latin typeface="Yu Gothic UI"/>
              </a:rPr>
              <a:t>Explainable AI</a:t>
            </a:r>
          </a:p>
          <a:p>
            <a:pPr algn="ctr"/>
            <a:r>
              <a:rPr lang="en-US" sz="2400" dirty="0">
                <a:solidFill>
                  <a:srgbClr val="23373E"/>
                </a:solidFill>
                <a:latin typeface="Yu Gothic UI"/>
              </a:rPr>
              <a:t>Summaries</a:t>
            </a:r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580D4FD6-FA33-45F0-6E1F-59A6AF61CF34}"/>
              </a:ext>
            </a:extLst>
          </p:cNvPr>
          <p:cNvCxnSpPr/>
          <p:nvPr/>
        </p:nvCxnSpPr>
        <p:spPr>
          <a:xfrm>
            <a:off x="2142744" y="7797275"/>
            <a:ext cx="0" cy="1466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1EDBA03B-13B4-BCFD-04BF-E13A33C62439}"/>
              </a:ext>
            </a:extLst>
          </p:cNvPr>
          <p:cNvCxnSpPr/>
          <p:nvPr/>
        </p:nvCxnSpPr>
        <p:spPr>
          <a:xfrm>
            <a:off x="4215384" y="7826067"/>
            <a:ext cx="0" cy="1466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D14C3F54-E8D1-E9A0-2874-0204A6F7F32F}"/>
              </a:ext>
            </a:extLst>
          </p:cNvPr>
          <p:cNvCxnSpPr/>
          <p:nvPr/>
        </p:nvCxnSpPr>
        <p:spPr>
          <a:xfrm>
            <a:off x="6646164" y="7784196"/>
            <a:ext cx="0" cy="1466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EEEC497B-07D4-A6B8-16A6-9B64A72A56D2}"/>
              </a:ext>
            </a:extLst>
          </p:cNvPr>
          <p:cNvCxnSpPr/>
          <p:nvPr/>
        </p:nvCxnSpPr>
        <p:spPr>
          <a:xfrm>
            <a:off x="9107196" y="7784196"/>
            <a:ext cx="0" cy="1466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10411E00-5EBE-57B5-7B9B-FD0236B04C3E}"/>
              </a:ext>
            </a:extLst>
          </p:cNvPr>
          <p:cNvCxnSpPr/>
          <p:nvPr/>
        </p:nvCxnSpPr>
        <p:spPr>
          <a:xfrm>
            <a:off x="11277600" y="7784196"/>
            <a:ext cx="0" cy="1466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9" name="Picture 178">
            <a:extLst>
              <a:ext uri="{FF2B5EF4-FFF2-40B4-BE49-F238E27FC236}">
                <a16:creationId xmlns:a16="http://schemas.microsoft.com/office/drawing/2014/main" id="{054DF7EB-6174-D0C2-3517-EF79B39019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0129" y="2251"/>
            <a:ext cx="3374775" cy="1593506"/>
          </a:xfrm>
          <a:prstGeom prst="rect">
            <a:avLst/>
          </a:prstGeom>
        </p:spPr>
      </p:pic>
      <p:pic>
        <p:nvPicPr>
          <p:cNvPr id="183" name="Picture 182">
            <a:extLst>
              <a:ext uri="{FF2B5EF4-FFF2-40B4-BE49-F238E27FC236}">
                <a16:creationId xmlns:a16="http://schemas.microsoft.com/office/drawing/2014/main" id="{51BA7476-0BDD-6ECE-F7C3-F8648404C4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60331"/>
            <a:ext cx="781811" cy="977264"/>
          </a:xfrm>
          <a:prstGeom prst="rect">
            <a:avLst/>
          </a:prstGeom>
        </p:spPr>
      </p:pic>
      <p:pic>
        <p:nvPicPr>
          <p:cNvPr id="185" name="Picture 184">
            <a:extLst>
              <a:ext uri="{FF2B5EF4-FFF2-40B4-BE49-F238E27FC236}">
                <a16:creationId xmlns:a16="http://schemas.microsoft.com/office/drawing/2014/main" id="{8C04AB16-6CED-2D5E-B5A4-3CB610CA16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087" y="3352622"/>
            <a:ext cx="1028313" cy="1044256"/>
          </a:xfrm>
          <a:prstGeom prst="rect">
            <a:avLst/>
          </a:prstGeom>
        </p:spPr>
      </p:pic>
      <p:pic>
        <p:nvPicPr>
          <p:cNvPr id="187" name="Picture 186">
            <a:extLst>
              <a:ext uri="{FF2B5EF4-FFF2-40B4-BE49-F238E27FC236}">
                <a16:creationId xmlns:a16="http://schemas.microsoft.com/office/drawing/2014/main" id="{D52526F6-A44D-09B6-1ACE-A99F7989D19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44" t="2158" r="38134" b="68760"/>
          <a:stretch>
            <a:fillRect/>
          </a:stretch>
        </p:blipFill>
        <p:spPr>
          <a:xfrm>
            <a:off x="4099618" y="3298325"/>
            <a:ext cx="1277857" cy="1031374"/>
          </a:xfrm>
          <a:prstGeom prst="rect">
            <a:avLst/>
          </a:prstGeom>
        </p:spPr>
      </p:pic>
      <p:pic>
        <p:nvPicPr>
          <p:cNvPr id="189" name="Picture 188">
            <a:extLst>
              <a:ext uri="{FF2B5EF4-FFF2-40B4-BE49-F238E27FC236}">
                <a16:creationId xmlns:a16="http://schemas.microsoft.com/office/drawing/2014/main" id="{266E6459-EF11-9F51-697D-2F809DB26D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17" t="439" r="20348" b="69019"/>
          <a:stretch>
            <a:fillRect/>
          </a:stretch>
        </p:blipFill>
        <p:spPr>
          <a:xfrm>
            <a:off x="5507013" y="3313705"/>
            <a:ext cx="969988" cy="1083173"/>
          </a:xfrm>
          <a:prstGeom prst="rect">
            <a:avLst/>
          </a:prstGeom>
        </p:spPr>
      </p:pic>
      <p:pic>
        <p:nvPicPr>
          <p:cNvPr id="191" name="Picture 190">
            <a:extLst>
              <a:ext uri="{FF2B5EF4-FFF2-40B4-BE49-F238E27FC236}">
                <a16:creationId xmlns:a16="http://schemas.microsoft.com/office/drawing/2014/main" id="{9EEED1F4-1929-1B08-95CC-380662C72A9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92" t="474" r="573" b="68984"/>
          <a:stretch>
            <a:fillRect/>
          </a:stretch>
        </p:blipFill>
        <p:spPr>
          <a:xfrm>
            <a:off x="8350396" y="3296258"/>
            <a:ext cx="969988" cy="1083173"/>
          </a:xfrm>
          <a:prstGeom prst="rect">
            <a:avLst/>
          </a:prstGeom>
        </p:spPr>
      </p:pic>
      <p:pic>
        <p:nvPicPr>
          <p:cNvPr id="193" name="Picture 192">
            <a:extLst>
              <a:ext uri="{FF2B5EF4-FFF2-40B4-BE49-F238E27FC236}">
                <a16:creationId xmlns:a16="http://schemas.microsoft.com/office/drawing/2014/main" id="{6DF4A0F9-1BAC-6C29-1D25-B9988E21D3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3" t="30481" r="79996" b="44107"/>
          <a:stretch>
            <a:fillRect/>
          </a:stretch>
        </p:blipFill>
        <p:spPr>
          <a:xfrm>
            <a:off x="11969894" y="3509804"/>
            <a:ext cx="984105" cy="901255"/>
          </a:xfrm>
          <a:prstGeom prst="rect">
            <a:avLst/>
          </a:prstGeom>
        </p:spPr>
      </p:pic>
      <p:pic>
        <p:nvPicPr>
          <p:cNvPr id="195" name="Picture 194">
            <a:extLst>
              <a:ext uri="{FF2B5EF4-FFF2-40B4-BE49-F238E27FC236}">
                <a16:creationId xmlns:a16="http://schemas.microsoft.com/office/drawing/2014/main" id="{9CD82598-EE37-DC30-5FE0-6448E48CEB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72" t="30426" r="59027" b="44162"/>
          <a:stretch>
            <a:fillRect/>
          </a:stretch>
        </p:blipFill>
        <p:spPr>
          <a:xfrm>
            <a:off x="15865463" y="3432930"/>
            <a:ext cx="984105" cy="901255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BC0AE4C3-653A-E36B-09FE-FB335FD6BD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37" t="29417" r="40962" b="45171"/>
          <a:stretch>
            <a:fillRect/>
          </a:stretch>
        </p:blipFill>
        <p:spPr>
          <a:xfrm>
            <a:off x="808281" y="7656362"/>
            <a:ext cx="984105" cy="901255"/>
          </a:xfrm>
          <a:prstGeom prst="rect">
            <a:avLst/>
          </a:prstGeom>
        </p:spPr>
      </p:pic>
      <p:pic>
        <p:nvPicPr>
          <p:cNvPr id="199" name="Picture 198">
            <a:extLst>
              <a:ext uri="{FF2B5EF4-FFF2-40B4-BE49-F238E27FC236}">
                <a16:creationId xmlns:a16="http://schemas.microsoft.com/office/drawing/2014/main" id="{D0733667-58A4-51C7-7CB2-044C185AAC9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40" t="31125" r="22359" b="43463"/>
          <a:stretch>
            <a:fillRect/>
          </a:stretch>
        </p:blipFill>
        <p:spPr>
          <a:xfrm>
            <a:off x="2622401" y="7702054"/>
            <a:ext cx="984105" cy="901255"/>
          </a:xfrm>
          <a:prstGeom prst="rect">
            <a:avLst/>
          </a:prstGeom>
        </p:spPr>
      </p:pic>
      <p:pic>
        <p:nvPicPr>
          <p:cNvPr id="201" name="Picture 200">
            <a:extLst>
              <a:ext uri="{FF2B5EF4-FFF2-40B4-BE49-F238E27FC236}">
                <a16:creationId xmlns:a16="http://schemas.microsoft.com/office/drawing/2014/main" id="{293233E1-ABC1-E134-CBAF-2EDC14CF23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47" t="30797" r="1266" b="46055"/>
          <a:stretch>
            <a:fillRect/>
          </a:stretch>
        </p:blipFill>
        <p:spPr>
          <a:xfrm>
            <a:off x="4824262" y="7728738"/>
            <a:ext cx="892979" cy="820984"/>
          </a:xfrm>
          <a:prstGeom prst="rect">
            <a:avLst/>
          </a:prstGeom>
        </p:spPr>
      </p:pic>
      <p:pic>
        <p:nvPicPr>
          <p:cNvPr id="203" name="Picture 202">
            <a:extLst>
              <a:ext uri="{FF2B5EF4-FFF2-40B4-BE49-F238E27FC236}">
                <a16:creationId xmlns:a16="http://schemas.microsoft.com/office/drawing/2014/main" id="{CA8F8079-8A64-ACB3-BD6C-3B5941554B0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5" t="54290" r="57834" b="20298"/>
          <a:stretch>
            <a:fillRect/>
          </a:stretch>
        </p:blipFill>
        <p:spPr>
          <a:xfrm>
            <a:off x="7269794" y="7685545"/>
            <a:ext cx="984105" cy="901255"/>
          </a:xfrm>
          <a:prstGeom prst="rect">
            <a:avLst/>
          </a:prstGeom>
        </p:spPr>
      </p:pic>
      <p:pic>
        <p:nvPicPr>
          <p:cNvPr id="205" name="Picture 204">
            <a:extLst>
              <a:ext uri="{FF2B5EF4-FFF2-40B4-BE49-F238E27FC236}">
                <a16:creationId xmlns:a16="http://schemas.microsoft.com/office/drawing/2014/main" id="{A42542AE-9C6D-D18E-52E0-89B8EE357C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35" t="53898" r="38364" b="20690"/>
          <a:stretch>
            <a:fillRect/>
          </a:stretch>
        </p:blipFill>
        <p:spPr>
          <a:xfrm>
            <a:off x="9752475" y="7711943"/>
            <a:ext cx="984105" cy="901255"/>
          </a:xfrm>
          <a:prstGeom prst="rect">
            <a:avLst/>
          </a:prstGeom>
        </p:spPr>
      </p:pic>
      <p:pic>
        <p:nvPicPr>
          <p:cNvPr id="207" name="Picture 206">
            <a:extLst>
              <a:ext uri="{FF2B5EF4-FFF2-40B4-BE49-F238E27FC236}">
                <a16:creationId xmlns:a16="http://schemas.microsoft.com/office/drawing/2014/main" id="{1E001678-4F6A-4DA3-A961-CD2B901AB81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31" t="53939" r="19168" b="20649"/>
          <a:stretch>
            <a:fillRect/>
          </a:stretch>
        </p:blipFill>
        <p:spPr>
          <a:xfrm>
            <a:off x="12051909" y="7696451"/>
            <a:ext cx="984105" cy="901255"/>
          </a:xfrm>
          <a:prstGeom prst="rect">
            <a:avLst/>
          </a:prstGeom>
        </p:spPr>
      </p:pic>
      <p:pic>
        <p:nvPicPr>
          <p:cNvPr id="209" name="Picture 208">
            <a:extLst>
              <a:ext uri="{FF2B5EF4-FFF2-40B4-BE49-F238E27FC236}">
                <a16:creationId xmlns:a16="http://schemas.microsoft.com/office/drawing/2014/main" id="{26C8087A-5D44-9012-17EA-2CC10CFFD5A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00" t="54274" r="3493" b="19382"/>
          <a:stretch>
            <a:fillRect/>
          </a:stretch>
        </p:blipFill>
        <p:spPr>
          <a:xfrm>
            <a:off x="14359943" y="7353300"/>
            <a:ext cx="877122" cy="987125"/>
          </a:xfrm>
          <a:prstGeom prst="rect">
            <a:avLst/>
          </a:prstGeom>
        </p:spPr>
      </p:pic>
      <p:pic>
        <p:nvPicPr>
          <p:cNvPr id="213" name="Picture 212">
            <a:extLst>
              <a:ext uri="{FF2B5EF4-FFF2-40B4-BE49-F238E27FC236}">
                <a16:creationId xmlns:a16="http://schemas.microsoft.com/office/drawing/2014/main" id="{8CE239D4-FF81-68AF-E26A-9092E54ACB7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9210" y="7258439"/>
            <a:ext cx="1263064" cy="1085792"/>
          </a:xfrm>
          <a:prstGeom prst="rect">
            <a:avLst/>
          </a:prstGeom>
        </p:spPr>
      </p:pic>
      <p:sp>
        <p:nvSpPr>
          <p:cNvPr id="215" name="TextBox 214">
            <a:extLst>
              <a:ext uri="{FF2B5EF4-FFF2-40B4-BE49-F238E27FC236}">
                <a16:creationId xmlns:a16="http://schemas.microsoft.com/office/drawing/2014/main" id="{CDAD52D1-2E73-44DE-F779-D5DD9B462145}"/>
              </a:ext>
            </a:extLst>
          </p:cNvPr>
          <p:cNvSpPr txBox="1"/>
          <p:nvPr/>
        </p:nvSpPr>
        <p:spPr>
          <a:xfrm>
            <a:off x="13598640" y="8344147"/>
            <a:ext cx="236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3373E"/>
                </a:solidFill>
                <a:latin typeface="Yu Gothic UI"/>
              </a:rPr>
              <a:t>Patient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369003B-FB31-B2B5-5381-4A3536B24AF8}"/>
              </a:ext>
            </a:extLst>
          </p:cNvPr>
          <p:cNvSpPr txBox="1"/>
          <p:nvPr/>
        </p:nvSpPr>
        <p:spPr>
          <a:xfrm>
            <a:off x="15733865" y="8344146"/>
            <a:ext cx="236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23373E"/>
                </a:solidFill>
                <a:latin typeface="Yu Gothic UI"/>
              </a:rPr>
              <a:t>Doctor</a:t>
            </a:r>
          </a:p>
        </p:txBody>
      </p: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1CDE75B1-E6B9-D9A5-791B-C34729C0490B}"/>
              </a:ext>
            </a:extLst>
          </p:cNvPr>
          <p:cNvCxnSpPr/>
          <p:nvPr/>
        </p:nvCxnSpPr>
        <p:spPr>
          <a:xfrm>
            <a:off x="3456432" y="4610100"/>
            <a:ext cx="5410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399F3823-8EAA-8628-3922-519BD07F2DE3}"/>
              </a:ext>
            </a:extLst>
          </p:cNvPr>
          <p:cNvCxnSpPr/>
          <p:nvPr/>
        </p:nvCxnSpPr>
        <p:spPr>
          <a:xfrm>
            <a:off x="6934199" y="4610100"/>
            <a:ext cx="5410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B3A6473B-D3E2-404B-0229-BEA10E4CB117}"/>
              </a:ext>
            </a:extLst>
          </p:cNvPr>
          <p:cNvCxnSpPr>
            <a:cxnSpLocks/>
          </p:cNvCxnSpPr>
          <p:nvPr/>
        </p:nvCxnSpPr>
        <p:spPr>
          <a:xfrm>
            <a:off x="10439400" y="4610100"/>
            <a:ext cx="297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88677C3F-C5FD-AABE-42E8-6F28F91C5F22}"/>
              </a:ext>
            </a:extLst>
          </p:cNvPr>
          <p:cNvCxnSpPr>
            <a:cxnSpLocks/>
          </p:cNvCxnSpPr>
          <p:nvPr/>
        </p:nvCxnSpPr>
        <p:spPr>
          <a:xfrm>
            <a:off x="14173199" y="4602480"/>
            <a:ext cx="297180" cy="7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B3C820B-2381-046E-92FF-D8C93EE32FBD}"/>
              </a:ext>
            </a:extLst>
          </p:cNvPr>
          <p:cNvCxnSpPr/>
          <p:nvPr/>
        </p:nvCxnSpPr>
        <p:spPr>
          <a:xfrm flipH="1">
            <a:off x="7086600" y="6515100"/>
            <a:ext cx="90926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37EF8B8A-4F6F-5CC9-D1CB-193E49741429}"/>
              </a:ext>
            </a:extLst>
          </p:cNvPr>
          <p:cNvCxnSpPr/>
          <p:nvPr/>
        </p:nvCxnSpPr>
        <p:spPr>
          <a:xfrm>
            <a:off x="7086600" y="6515100"/>
            <a:ext cx="0" cy="291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09D271BB-0429-8350-2FB1-124AF6C89BD8}"/>
              </a:ext>
            </a:extLst>
          </p:cNvPr>
          <p:cNvCxnSpPr/>
          <p:nvPr/>
        </p:nvCxnSpPr>
        <p:spPr>
          <a:xfrm>
            <a:off x="16179210" y="6299725"/>
            <a:ext cx="0" cy="367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32975C61-C85E-4975-F3E7-A0FB1355943A}"/>
              </a:ext>
            </a:extLst>
          </p:cNvPr>
          <p:cNvCxnSpPr/>
          <p:nvPr/>
        </p:nvCxnSpPr>
        <p:spPr>
          <a:xfrm flipV="1">
            <a:off x="8915400" y="6281931"/>
            <a:ext cx="0" cy="2331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9EBF26FF-CE48-61D0-BD9D-35864DFE39BE}"/>
              </a:ext>
            </a:extLst>
          </p:cNvPr>
          <p:cNvCxnSpPr/>
          <p:nvPr/>
        </p:nvCxnSpPr>
        <p:spPr>
          <a:xfrm>
            <a:off x="12725400" y="6281931"/>
            <a:ext cx="0" cy="2331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Rectangle 242">
            <a:extLst>
              <a:ext uri="{FF2B5EF4-FFF2-40B4-BE49-F238E27FC236}">
                <a16:creationId xmlns:a16="http://schemas.microsoft.com/office/drawing/2014/main" id="{89669A68-AD13-4CCC-1F7C-CEC2C4DEB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825103"/>
            <a:ext cx="18288000" cy="46189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4" name="Footer Placeholder 6">
            <a:extLst>
              <a:ext uri="{FF2B5EF4-FFF2-40B4-BE49-F238E27FC236}">
                <a16:creationId xmlns:a16="http://schemas.microsoft.com/office/drawing/2014/main" id="{37C76713-D0D4-6042-2950-087BC7AEB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4380" y="9805787"/>
            <a:ext cx="16619220" cy="525360"/>
          </a:xfrm>
        </p:spPr>
        <p:txBody>
          <a:bodyPr/>
          <a:lstStyle/>
          <a:p>
            <a:pPr>
              <a:defRPr/>
            </a:pPr>
            <a:r>
              <a:rPr lang="en-US" sz="1800" dirty="0">
                <a:solidFill>
                  <a:schemeClr val="bg1"/>
                </a:solidFill>
              </a:rPr>
              <a:t>@SIH Idea submission  -  COPS and SOE, DSU</a:t>
            </a:r>
          </a:p>
        </p:txBody>
      </p: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CB79319A-4282-63FE-0421-5FE2B2B1CDB5}"/>
              </a:ext>
            </a:extLst>
          </p:cNvPr>
          <p:cNvGrpSpPr/>
          <p:nvPr/>
        </p:nvGrpSpPr>
        <p:grpSpPr>
          <a:xfrm>
            <a:off x="14696488" y="9045865"/>
            <a:ext cx="2489660" cy="772940"/>
            <a:chOff x="11741310" y="7300341"/>
            <a:chExt cx="5617382" cy="1918370"/>
          </a:xfrm>
        </p:grpSpPr>
        <p:pic>
          <p:nvPicPr>
            <p:cNvPr id="246" name="Picture 245">
              <a:extLst>
                <a:ext uri="{FF2B5EF4-FFF2-40B4-BE49-F238E27FC236}">
                  <a16:creationId xmlns:a16="http://schemas.microsoft.com/office/drawing/2014/main" id="{89C57917-8FEE-24BD-E574-3B8B07CF9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68768" y="7344029"/>
              <a:ext cx="1889924" cy="1874682"/>
            </a:xfrm>
            <a:prstGeom prst="rect">
              <a:avLst/>
            </a:prstGeom>
          </p:spPr>
        </p:pic>
        <p:pic>
          <p:nvPicPr>
            <p:cNvPr id="247" name="Picture 246">
              <a:extLst>
                <a:ext uri="{FF2B5EF4-FFF2-40B4-BE49-F238E27FC236}">
                  <a16:creationId xmlns:a16="http://schemas.microsoft.com/office/drawing/2014/main" id="{C8269A36-DDFF-79A9-3613-F30746E16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41310" y="7300341"/>
              <a:ext cx="1935648" cy="1905165"/>
            </a:xfrm>
            <a:prstGeom prst="rect">
              <a:avLst/>
            </a:prstGeom>
          </p:spPr>
        </p:pic>
        <p:pic>
          <p:nvPicPr>
            <p:cNvPr id="248" name="Picture 247">
              <a:extLst>
                <a:ext uri="{FF2B5EF4-FFF2-40B4-BE49-F238E27FC236}">
                  <a16:creationId xmlns:a16="http://schemas.microsoft.com/office/drawing/2014/main" id="{0CFFC2C8-C43F-A641-E10C-47C0CCAB6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63600" y="7344029"/>
              <a:ext cx="1935648" cy="18746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ounded Rectangle 4">
            <a:extLst>
              <a:ext uri="{FF2B5EF4-FFF2-40B4-BE49-F238E27FC236}">
                <a16:creationId xmlns:a16="http://schemas.microsoft.com/office/drawing/2014/main" id="{B3E918AB-D1AB-254E-5EBF-D2A7C98917F5}"/>
              </a:ext>
            </a:extLst>
          </p:cNvPr>
          <p:cNvSpPr/>
          <p:nvPr/>
        </p:nvSpPr>
        <p:spPr>
          <a:xfrm>
            <a:off x="152400" y="1450798"/>
            <a:ext cx="5311140" cy="82647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07" name="Rounded Rectangle 4">
            <a:extLst>
              <a:ext uri="{FF2B5EF4-FFF2-40B4-BE49-F238E27FC236}">
                <a16:creationId xmlns:a16="http://schemas.microsoft.com/office/drawing/2014/main" id="{1B01F0C3-CF08-D6A8-0210-5517D7129EA5}"/>
              </a:ext>
            </a:extLst>
          </p:cNvPr>
          <p:cNvSpPr/>
          <p:nvPr/>
        </p:nvSpPr>
        <p:spPr>
          <a:xfrm>
            <a:off x="5791200" y="1050289"/>
            <a:ext cx="3406140" cy="424561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09" name="Rounded Rectangle 4">
            <a:extLst>
              <a:ext uri="{FF2B5EF4-FFF2-40B4-BE49-F238E27FC236}">
                <a16:creationId xmlns:a16="http://schemas.microsoft.com/office/drawing/2014/main" id="{0ECAEEBF-C1A1-F0F7-2798-9E387E8B64DB}"/>
              </a:ext>
            </a:extLst>
          </p:cNvPr>
          <p:cNvSpPr/>
          <p:nvPr/>
        </p:nvSpPr>
        <p:spPr>
          <a:xfrm>
            <a:off x="5791200" y="5516880"/>
            <a:ext cx="3406140" cy="41986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graphicFrame>
        <p:nvGraphicFramePr>
          <p:cNvPr id="222" name="Table 221">
            <a:extLst>
              <a:ext uri="{FF2B5EF4-FFF2-40B4-BE49-F238E27FC236}">
                <a16:creationId xmlns:a16="http://schemas.microsoft.com/office/drawing/2014/main" id="{A490E33E-4124-E930-B2B6-57D8B28DC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57330"/>
              </p:ext>
            </p:extLst>
          </p:nvPr>
        </p:nvGraphicFramePr>
        <p:xfrm>
          <a:off x="9525000" y="1050291"/>
          <a:ext cx="8610600" cy="7369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4099">
                  <a:extLst>
                    <a:ext uri="{9D8B030D-6E8A-4147-A177-3AD203B41FA5}">
                      <a16:colId xmlns:a16="http://schemas.microsoft.com/office/drawing/2014/main" val="34792104"/>
                    </a:ext>
                  </a:extLst>
                </a:gridCol>
                <a:gridCol w="2029568">
                  <a:extLst>
                    <a:ext uri="{9D8B030D-6E8A-4147-A177-3AD203B41FA5}">
                      <a16:colId xmlns:a16="http://schemas.microsoft.com/office/drawing/2014/main" val="3466882993"/>
                    </a:ext>
                  </a:extLst>
                </a:gridCol>
                <a:gridCol w="2072922">
                  <a:extLst>
                    <a:ext uri="{9D8B030D-6E8A-4147-A177-3AD203B41FA5}">
                      <a16:colId xmlns:a16="http://schemas.microsoft.com/office/drawing/2014/main" val="1272254863"/>
                    </a:ext>
                  </a:extLst>
                </a:gridCol>
                <a:gridCol w="1754011">
                  <a:extLst>
                    <a:ext uri="{9D8B030D-6E8A-4147-A177-3AD203B41FA5}">
                      <a16:colId xmlns:a16="http://schemas.microsoft.com/office/drawing/2014/main" val="4031995651"/>
                    </a:ext>
                  </a:extLst>
                </a:gridCol>
              </a:tblGrid>
              <a:tr h="1052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94C55"/>
                          </a:solidFill>
                          <a:latin typeface="Poppins Bold" panose="020B0604020202020204" charset="0"/>
                          <a:ea typeface="Yu Gothic UI" panose="020B0500000000000000" pitchFamily="34" charset="-128"/>
                          <a:cs typeface="Poppins Bold" panose="020B0604020202020204" charset="0"/>
                        </a:rPr>
                        <a:t>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94C55"/>
                          </a:solidFill>
                          <a:latin typeface="Poppins Bold" panose="020B0604020202020204" charset="0"/>
                          <a:ea typeface="Yu Gothic UI" panose="020B0500000000000000" pitchFamily="34" charset="-128"/>
                          <a:cs typeface="Poppins Bold" panose="020B0604020202020204" charset="0"/>
                        </a:rPr>
                        <a:t>Medication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394C55"/>
                          </a:solidFill>
                          <a:latin typeface="Poppins Bold" panose="020B0604020202020204" charset="0"/>
                          <a:ea typeface="Yu Gothic UI" panose="020B0500000000000000" pitchFamily="34" charset="-128"/>
                          <a:cs typeface="Poppins Bold" panose="020B0604020202020204" charset="0"/>
                        </a:rPr>
                        <a:t>Interaction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rgbClr val="056866"/>
                          </a:solidFill>
                          <a:latin typeface="Poppins Bold" panose="020B0604020202020204" charset="0"/>
                          <a:ea typeface="Yu Gothic UI" panose="020B0500000000000000" pitchFamily="34" charset="-128"/>
                          <a:cs typeface="Poppins Bold" panose="020B0604020202020204" charset="0"/>
                        </a:rPr>
                        <a:t>MediMind</a:t>
                      </a:r>
                      <a:endParaRPr lang="en-US" sz="2000" b="1" dirty="0">
                        <a:solidFill>
                          <a:srgbClr val="056866"/>
                        </a:solidFill>
                        <a:latin typeface="Poppins Bold" panose="020B0604020202020204" charset="0"/>
                        <a:ea typeface="Yu Gothic UI" panose="020B0500000000000000" pitchFamily="34" charset="-128"/>
                        <a:cs typeface="Poppins Bold" panose="020B0604020202020204" charset="0"/>
                      </a:endParaRP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256193"/>
                  </a:ext>
                </a:extLst>
              </a:tr>
              <a:tr h="1052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141414"/>
                          </a:solidFill>
                          <a:latin typeface="Poppins Bold" panose="020B0604020202020204" charset="0"/>
                          <a:ea typeface="Yu Gothic UI" panose="020B0500000000000000" pitchFamily="34" charset="-128"/>
                          <a:cs typeface="Poppins Bold" panose="020B0604020202020204" charset="0"/>
                        </a:rPr>
                        <a:t>Patient food intake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94C55"/>
                          </a:solidFill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Limited</a:t>
                      </a:r>
                    </a:p>
                    <a:p>
                      <a:pPr algn="ctr"/>
                      <a:endParaRPr lang="en-US" sz="2000" dirty="0"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94C55"/>
                          </a:solidFill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✕</a:t>
                      </a:r>
                    </a:p>
                    <a:p>
                      <a:pPr algn="ctr"/>
                      <a:endParaRPr lang="en-US" sz="2000" dirty="0"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56866"/>
                          </a:solidFill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✓ ✓</a:t>
                      </a:r>
                    </a:p>
                    <a:p>
                      <a:pPr algn="ctr"/>
                      <a:endParaRPr lang="en-US" sz="2000" dirty="0"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441293"/>
                  </a:ext>
                </a:extLst>
              </a:tr>
              <a:tr h="1052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141414"/>
                          </a:solidFill>
                          <a:latin typeface="Poppins Bold" panose="020B0604020202020204" charset="0"/>
                          <a:ea typeface="Yu Gothic UI" panose="020B0500000000000000" pitchFamily="34" charset="-128"/>
                          <a:cs typeface="Poppins Bold" panose="020B0604020202020204" charset="0"/>
                        </a:rPr>
                        <a:t>Actual food + medication timing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94C55"/>
                          </a:solidFill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✕</a:t>
                      </a:r>
                    </a:p>
                    <a:p>
                      <a:pPr algn="ctr"/>
                      <a:endParaRPr lang="en-US" sz="2000" dirty="0"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94C55"/>
                          </a:solidFill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Usually query-based</a:t>
                      </a:r>
                    </a:p>
                    <a:p>
                      <a:pPr algn="ctr"/>
                      <a:endParaRPr lang="en-US" sz="2000" dirty="0"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56866"/>
                          </a:solidFill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✓ ✓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402207"/>
                  </a:ext>
                </a:extLst>
              </a:tr>
              <a:tr h="1052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141414"/>
                          </a:solidFill>
                          <a:latin typeface="Poppins Bold" panose="020B0604020202020204" charset="0"/>
                          <a:ea typeface="Yu Gothic UI" panose="020B0500000000000000" pitchFamily="34" charset="-128"/>
                          <a:cs typeface="Poppins Bold" panose="020B0604020202020204" charset="0"/>
                        </a:rPr>
                        <a:t>Time-aware interaction assessment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94C55"/>
                          </a:solidFill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✕</a:t>
                      </a:r>
                    </a:p>
                    <a:p>
                      <a:pPr algn="ctr"/>
                      <a:endParaRPr lang="en-US" sz="2000" dirty="0"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94C55"/>
                          </a:solidFill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Limited</a:t>
                      </a:r>
                    </a:p>
                    <a:p>
                      <a:pPr algn="ctr"/>
                      <a:endParaRPr lang="en-US" sz="2000" dirty="0"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56866"/>
                          </a:solidFill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✓ ✓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172414"/>
                  </a:ext>
                </a:extLst>
              </a:tr>
              <a:tr h="1052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141414"/>
                          </a:solidFill>
                          <a:latin typeface="Poppins Bold" panose="020B0604020202020204" charset="0"/>
                          <a:ea typeface="Yu Gothic UI" panose="020B0500000000000000" pitchFamily="34" charset="-128"/>
                          <a:cs typeface="Poppins Bold" panose="020B0604020202020204" charset="0"/>
                        </a:rPr>
                        <a:t>Personalized food guidance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94C55"/>
                          </a:solidFill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Limited</a:t>
                      </a:r>
                    </a:p>
                    <a:p>
                      <a:pPr algn="ctr"/>
                      <a:endParaRPr lang="en-US" sz="2000" dirty="0"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94C55"/>
                          </a:solidFill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Information-based</a:t>
                      </a:r>
                    </a:p>
                    <a:p>
                      <a:pPr algn="ctr"/>
                      <a:endParaRPr lang="en-US" sz="2000" dirty="0"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56866"/>
                          </a:solidFill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✓ ✓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984533"/>
                  </a:ext>
                </a:extLst>
              </a:tr>
              <a:tr h="105283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141414"/>
                          </a:solidFill>
                          <a:latin typeface="Poppins Bold" panose="020B0604020202020204" charset="0"/>
                          <a:ea typeface="Yu Gothic UI" panose="020B0500000000000000" pitchFamily="34" charset="-128"/>
                          <a:cs typeface="Poppins Bold" panose="020B0604020202020204" charset="0"/>
                        </a:rPr>
                        <a:t>Repeated food 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94C55"/>
                          </a:solidFill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✕</a:t>
                      </a:r>
                    </a:p>
                    <a:p>
                      <a:pPr algn="ctr"/>
                      <a:endParaRPr lang="en-US" sz="2000" dirty="0"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94C55"/>
                          </a:solidFill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✕</a:t>
                      </a:r>
                    </a:p>
                    <a:p>
                      <a:pPr algn="ctr"/>
                      <a:endParaRPr lang="en-US" sz="2000" dirty="0"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56866"/>
                          </a:solidFill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✓ ✓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129703"/>
                  </a:ext>
                </a:extLst>
              </a:tr>
              <a:tr h="1052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141414"/>
                          </a:solidFill>
                          <a:latin typeface="Poppins Bold" panose="020B0604020202020204" charset="0"/>
                          <a:ea typeface="Yu Gothic UI" panose="020B0500000000000000" pitchFamily="34" charset="-128"/>
                          <a:cs typeface="Poppins Bold" panose="020B0604020202020204" charset="0"/>
                        </a:rPr>
                        <a:t>Professional patient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94C55"/>
                          </a:solidFill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Limited</a:t>
                      </a:r>
                    </a:p>
                    <a:p>
                      <a:pPr algn="ctr"/>
                      <a:endParaRPr lang="en-US" sz="2000" dirty="0"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394C55"/>
                          </a:solidFill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✕</a:t>
                      </a:r>
                    </a:p>
                    <a:p>
                      <a:pPr algn="ctr"/>
                      <a:endParaRPr lang="en-US" sz="2000" dirty="0">
                        <a:latin typeface="Yu Gothic UI" panose="020B0500000000000000" pitchFamily="34" charset="-128"/>
                        <a:ea typeface="Yu Gothic UI" panose="020B05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56866"/>
                          </a:solidFill>
                          <a:latin typeface="Yu Gothic UI" panose="020B0500000000000000" pitchFamily="34" charset="-128"/>
                          <a:ea typeface="Yu Gothic UI" panose="020B0500000000000000" pitchFamily="34" charset="-128"/>
                        </a:rPr>
                        <a:t>✓ ✓</a:t>
                      </a:r>
                    </a:p>
                  </a:txBody>
                  <a:tcPr anchor="ctr">
                    <a:solidFill>
                      <a:srgbClr val="E8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54898"/>
                  </a:ext>
                </a:extLst>
              </a:tr>
            </a:tbl>
          </a:graphicData>
        </a:graphic>
      </p:graphicFrame>
      <p:sp>
        <p:nvSpPr>
          <p:cNvPr id="224" name="TextBox 223">
            <a:extLst>
              <a:ext uri="{FF2B5EF4-FFF2-40B4-BE49-F238E27FC236}">
                <a16:creationId xmlns:a16="http://schemas.microsoft.com/office/drawing/2014/main" id="{C777E573-2300-33B5-1FEA-DFB98C699A0D}"/>
              </a:ext>
            </a:extLst>
          </p:cNvPr>
          <p:cNvSpPr txBox="1"/>
          <p:nvPr/>
        </p:nvSpPr>
        <p:spPr>
          <a:xfrm>
            <a:off x="304800" y="1357134"/>
            <a:ext cx="5311140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latin typeface="Canva Sans" panose="020B0604020202020204" charset="0"/>
            </a:endParaRPr>
          </a:p>
          <a:p>
            <a:endParaRPr lang="en-US" sz="2400" dirty="0">
              <a:latin typeface="Canva Sans" panose="020B0604020202020204" charset="0"/>
            </a:endParaRPr>
          </a:p>
          <a:p>
            <a:r>
              <a:rPr lang="en-US" sz="2400" dirty="0">
                <a:latin typeface="Canva Sans" panose="020B0604020202020204" charset="0"/>
              </a:rPr>
              <a:t>It can connect with existing medical information sources such as </a:t>
            </a:r>
            <a:r>
              <a:rPr lang="en-US" sz="2400" dirty="0" err="1">
                <a:latin typeface="Canva Sans" panose="020B0604020202020204" charset="0"/>
              </a:rPr>
              <a:t>DrugBank</a:t>
            </a:r>
            <a:r>
              <a:rPr lang="en-US" sz="2400" dirty="0">
                <a:latin typeface="Canva Sans" panose="020B0604020202020204" charset="0"/>
              </a:rPr>
              <a:t>, </a:t>
            </a:r>
            <a:r>
              <a:rPr lang="en-US" sz="2400" dirty="0" err="1">
                <a:latin typeface="Canva Sans" panose="020B0604020202020204" charset="0"/>
              </a:rPr>
              <a:t>DailyMed</a:t>
            </a:r>
            <a:r>
              <a:rPr lang="en-US" sz="2400" dirty="0">
                <a:latin typeface="Canva Sans" panose="020B0604020202020204" charset="0"/>
              </a:rPr>
              <a:t>, </a:t>
            </a:r>
            <a:r>
              <a:rPr lang="en-US" sz="2400" dirty="0" err="1">
                <a:latin typeface="Canva Sans" panose="020B0604020202020204" charset="0"/>
              </a:rPr>
              <a:t>RxNorm</a:t>
            </a:r>
            <a:r>
              <a:rPr lang="en-US" sz="2400" dirty="0">
                <a:latin typeface="Canva Sans" panose="020B0604020202020204" charset="0"/>
              </a:rPr>
              <a:t>, </a:t>
            </a:r>
            <a:r>
              <a:rPr lang="en-US" sz="2400" dirty="0" err="1">
                <a:latin typeface="Canva Sans" panose="020B0604020202020204" charset="0"/>
              </a:rPr>
              <a:t>OpenFDA</a:t>
            </a:r>
            <a:r>
              <a:rPr lang="en-US" sz="2400" dirty="0">
                <a:latin typeface="Canva Sans" panose="020B0604020202020204" charset="0"/>
              </a:rPr>
              <a:t> and PubMed to obtain information about medicines, interactions, and safety.</a:t>
            </a:r>
          </a:p>
          <a:p>
            <a:endParaRPr lang="en-US" sz="2400" dirty="0">
              <a:latin typeface="Canva Sans" panose="020B0604020202020204" charset="0"/>
            </a:endParaRPr>
          </a:p>
          <a:p>
            <a:r>
              <a:rPr lang="en-US" sz="2400" b="1" dirty="0">
                <a:solidFill>
                  <a:srgbClr val="087F70"/>
                </a:solidFill>
                <a:latin typeface="Canva Sans" panose="020B0604020202020204" charset="0"/>
              </a:rPr>
              <a:t>For patients: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nva Sans" panose="020B0604020202020204" charset="0"/>
              </a:rPr>
              <a:t>Enter medicines, receive interaction warning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nva Sans" panose="020B0604020202020204" charset="0"/>
              </a:rPr>
              <a:t>Medication reminder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nva Sans" panose="020B0604020202020204" charset="0"/>
              </a:rPr>
              <a:t>Administration guidance, report symptoms</a:t>
            </a:r>
          </a:p>
          <a:p>
            <a:endParaRPr lang="en-US" sz="2400" dirty="0">
              <a:latin typeface="Canva Sans" panose="020B0604020202020204" charset="0"/>
            </a:endParaRPr>
          </a:p>
          <a:p>
            <a:r>
              <a:rPr lang="en-US" sz="2400" b="1" dirty="0">
                <a:solidFill>
                  <a:srgbClr val="087F70"/>
                </a:solidFill>
                <a:latin typeface="Canva Sans" panose="020B0604020202020204" charset="0"/>
              </a:rPr>
              <a:t>healthcare professionals: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nva Sans" panose="020B0604020202020204" charset="0"/>
              </a:rPr>
              <a:t>Monitor medication adherence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nva Sans" panose="020B0604020202020204" charset="0"/>
              </a:rPr>
              <a:t>Identify drug–food interactions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nva Sans" panose="020B0604020202020204" charset="0"/>
              </a:rPr>
              <a:t>Identify patients who need counselling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nva Sans" panose="020B0604020202020204" charset="0"/>
              </a:rPr>
              <a:t>Review symptoms if present</a:t>
            </a:r>
          </a:p>
          <a:p>
            <a:endParaRPr lang="en-US" sz="2400" dirty="0">
              <a:latin typeface="Canva Sans" panose="020B0604020202020204" charset="0"/>
            </a:endParaRPr>
          </a:p>
          <a:p>
            <a:endParaRPr lang="en-US" sz="2400" dirty="0">
              <a:latin typeface="Canva Sans" panose="020B0604020202020204" charset="0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B6662E8-1426-B257-A048-B2719267D11D}"/>
              </a:ext>
            </a:extLst>
          </p:cNvPr>
          <p:cNvSpPr txBox="1"/>
          <p:nvPr/>
        </p:nvSpPr>
        <p:spPr>
          <a:xfrm>
            <a:off x="5867400" y="1205448"/>
            <a:ext cx="33528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87F70"/>
                </a:solidFill>
                <a:latin typeface="Canva Sans" panose="020B0604020202020204" charset="0"/>
              </a:rPr>
              <a:t>POTENTIAL CHALLENGES</a:t>
            </a:r>
          </a:p>
          <a:p>
            <a:endParaRPr lang="en-US" sz="2400" dirty="0">
              <a:latin typeface="Canva Sans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nva Sans" panose="020B0604020202020204" charset="0"/>
              </a:rPr>
              <a:t>Handwritten or poor-quality prescriptions may be misread.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nva Sans" panose="020B0604020202020204" charset="0"/>
              </a:rPr>
              <a:t>Data Accuracy and Reliability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nva Sans" panose="020B0604020202020204" charset="0"/>
              </a:rPr>
              <a:t>User Compliance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6D7813F3-55CD-0BCF-BE15-9945B5D0DA69}"/>
              </a:ext>
            </a:extLst>
          </p:cNvPr>
          <p:cNvSpPr txBox="1"/>
          <p:nvPr/>
        </p:nvSpPr>
        <p:spPr>
          <a:xfrm>
            <a:off x="5867400" y="5994380"/>
            <a:ext cx="3352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87F70"/>
                </a:solidFill>
                <a:latin typeface="Canva Sans" panose="020B0604020202020204" charset="0"/>
              </a:rPr>
              <a:t>STRATEGIES TO OVERCOME</a:t>
            </a:r>
          </a:p>
          <a:p>
            <a:endParaRPr lang="en-US" sz="2400" dirty="0">
              <a:latin typeface="Canva Sans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nva Sans" panose="020B0604020202020204" charset="0"/>
              </a:rPr>
              <a:t>Use Trusted Medical Databases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nva Sans" panose="020B0604020202020204" charset="0"/>
              </a:rPr>
              <a:t>Improve User Engagement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nva Sans" panose="020B0604020202020204" charset="0"/>
              </a:rPr>
              <a:t>Strengthen Data Security</a:t>
            </a:r>
          </a:p>
        </p:txBody>
      </p:sp>
      <p:sp>
        <p:nvSpPr>
          <p:cNvPr id="230" name="Title 1">
            <a:extLst>
              <a:ext uri="{FF2B5EF4-FFF2-40B4-BE49-F238E27FC236}">
                <a16:creationId xmlns:a16="http://schemas.microsoft.com/office/drawing/2014/main" id="{A71761A1-F6AF-8230-DC31-ACAF8013EB8D}"/>
              </a:ext>
            </a:extLst>
          </p:cNvPr>
          <p:cNvSpPr txBox="1">
            <a:spLocks/>
          </p:cNvSpPr>
          <p:nvPr/>
        </p:nvSpPr>
        <p:spPr>
          <a:xfrm>
            <a:off x="2807970" y="129922"/>
            <a:ext cx="13335000" cy="11430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FEASIBILITY, VIABILITY &amp; INNOVATION</a:t>
            </a: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E8B15528-C895-D7CC-C9D4-C2810BF64D85}"/>
              </a:ext>
            </a:extLst>
          </p:cNvPr>
          <p:cNvGrpSpPr/>
          <p:nvPr/>
        </p:nvGrpSpPr>
        <p:grpSpPr>
          <a:xfrm>
            <a:off x="15011400" y="8706267"/>
            <a:ext cx="3200400" cy="1085433"/>
            <a:chOff x="11741310" y="7344029"/>
            <a:chExt cx="5617382" cy="1905165"/>
          </a:xfrm>
        </p:grpSpPr>
        <p:pic>
          <p:nvPicPr>
            <p:cNvPr id="232" name="Picture 231">
              <a:extLst>
                <a:ext uri="{FF2B5EF4-FFF2-40B4-BE49-F238E27FC236}">
                  <a16:creationId xmlns:a16="http://schemas.microsoft.com/office/drawing/2014/main" id="{C35A9374-8F18-DAE2-EFBC-17F8B9E3D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68768" y="7344029"/>
              <a:ext cx="1889924" cy="1874682"/>
            </a:xfrm>
            <a:prstGeom prst="rect">
              <a:avLst/>
            </a:prstGeom>
          </p:spPr>
        </p:pic>
        <p:pic>
          <p:nvPicPr>
            <p:cNvPr id="233" name="Picture 232">
              <a:extLst>
                <a:ext uri="{FF2B5EF4-FFF2-40B4-BE49-F238E27FC236}">
                  <a16:creationId xmlns:a16="http://schemas.microsoft.com/office/drawing/2014/main" id="{D52D47D8-BDC9-ECC5-598A-DF25A8AEA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41310" y="7344029"/>
              <a:ext cx="1935648" cy="1905165"/>
            </a:xfrm>
            <a:prstGeom prst="rect">
              <a:avLst/>
            </a:prstGeom>
          </p:spPr>
        </p:pic>
        <p:pic>
          <p:nvPicPr>
            <p:cNvPr id="234" name="Picture 233">
              <a:extLst>
                <a:ext uri="{FF2B5EF4-FFF2-40B4-BE49-F238E27FC236}">
                  <a16:creationId xmlns:a16="http://schemas.microsoft.com/office/drawing/2014/main" id="{041B6809-8245-D927-5614-ABC1E3257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63600" y="7344029"/>
              <a:ext cx="1935648" cy="1874682"/>
            </a:xfrm>
            <a:prstGeom prst="rect">
              <a:avLst/>
            </a:prstGeom>
          </p:spPr>
        </p:pic>
      </p:grpSp>
      <p:sp>
        <p:nvSpPr>
          <p:cNvPr id="236" name="Rectangle 235">
            <a:extLst>
              <a:ext uri="{FF2B5EF4-FFF2-40B4-BE49-F238E27FC236}">
                <a16:creationId xmlns:a16="http://schemas.microsoft.com/office/drawing/2014/main" id="{CA1BA977-E0C0-5F4A-AA6A-9DE0F579A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825103"/>
            <a:ext cx="18288000" cy="46189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38" name="Footer Placeholder 6">
            <a:extLst>
              <a:ext uri="{FF2B5EF4-FFF2-40B4-BE49-F238E27FC236}">
                <a16:creationId xmlns:a16="http://schemas.microsoft.com/office/drawing/2014/main" id="{E5921002-FE15-2B0E-DE80-BA0F8658D154}"/>
              </a:ext>
            </a:extLst>
          </p:cNvPr>
          <p:cNvSpPr txBox="1">
            <a:spLocks/>
          </p:cNvSpPr>
          <p:nvPr/>
        </p:nvSpPr>
        <p:spPr>
          <a:xfrm>
            <a:off x="754380" y="9805787"/>
            <a:ext cx="16619220" cy="525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dirty="0">
                <a:solidFill>
                  <a:schemeClr val="bg1"/>
                </a:solidFill>
              </a:rPr>
              <a:t>@SIH Idea submission  -  COPS and SOE, DSU</a:t>
            </a:r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7873237C-37AE-9C34-439A-78186A0EDB8D}"/>
              </a:ext>
            </a:extLst>
          </p:cNvPr>
          <p:cNvSpPr/>
          <p:nvPr/>
        </p:nvSpPr>
        <p:spPr>
          <a:xfrm>
            <a:off x="243096" y="284643"/>
            <a:ext cx="1661904" cy="1067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700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97355E2A-73DC-CCC7-3510-5E17101DB64A}"/>
              </a:ext>
            </a:extLst>
          </p:cNvPr>
          <p:cNvSpPr txBox="1"/>
          <p:nvPr/>
        </p:nvSpPr>
        <p:spPr>
          <a:xfrm>
            <a:off x="503700" y="462519"/>
            <a:ext cx="1200938" cy="7848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50" b="1" dirty="0">
                <a:solidFill>
                  <a:srgbClr val="111111"/>
                </a:solidFill>
                <a:latin typeface="Arial"/>
              </a:rPr>
              <a:t>Med
Fusion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0B953DDE-E7E2-1E73-D99E-31EC3F93BA87}"/>
              </a:ext>
            </a:extLst>
          </p:cNvPr>
          <p:cNvSpPr txBox="1"/>
          <p:nvPr/>
        </p:nvSpPr>
        <p:spPr>
          <a:xfrm>
            <a:off x="503700" y="159881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87F70"/>
                </a:solidFill>
                <a:latin typeface="Canva Sans" panose="020B0604020202020204" charset="0"/>
              </a:rPr>
              <a:t>Feasibility 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67000" y="412369"/>
            <a:ext cx="8229600" cy="1143000"/>
          </a:xfrm>
        </p:spPr>
        <p:txBody>
          <a:bodyPr/>
          <a:lstStyle/>
          <a:p>
            <a:pPr eaLnBrk="1" hangingPunct="1"/>
            <a:r>
              <a:rPr lang="en-US" sz="5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677C3CE7-23F7-4828-823C-E0205DF2CF97}" type="slidenum">
              <a:rPr lang="en-US" sz="1800" b="1">
                <a:solidFill>
                  <a:prstClr val="white"/>
                </a:solidFill>
                <a:latin typeface="TradeGothic" pitchFamily="1" charset="0"/>
                <a:ea typeface="ＭＳ Ｐゴシック" pitchFamily="1" charset="-128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sz="1800" b="1" dirty="0">
              <a:solidFill>
                <a:prstClr val="white"/>
              </a:solidFill>
              <a:latin typeface="TradeGothic" pitchFamily="1" charset="0"/>
              <a:ea typeface="ＭＳ Ｐゴシック" pitchFamily="1" charset="-128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6972300" y="9534530"/>
            <a:ext cx="4806000" cy="547688"/>
          </a:xfrm>
        </p:spPr>
        <p:txBody>
          <a:bodyPr/>
          <a:lstStyle/>
          <a:p>
            <a:pPr defTabSz="685800">
              <a:defRPr/>
            </a:pPr>
            <a:r>
              <a:rPr lang="en-US" sz="1800">
                <a:solidFill>
                  <a:prstClr val="white"/>
                </a:solidFill>
                <a:latin typeface="TradeGothic"/>
              </a:rPr>
              <a:t>@SIH Idea submission- Template</a:t>
            </a:r>
            <a:endParaRPr lang="en-US" sz="1800" dirty="0">
              <a:solidFill>
                <a:prstClr val="white"/>
              </a:solidFill>
              <a:latin typeface="TradeGothic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94660" y="378369"/>
            <a:ext cx="1877786" cy="121100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700" b="1" dirty="0"/>
              <a:t>Med Fusion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0129" y="2251"/>
            <a:ext cx="3374775" cy="159350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67FF436-6736-B43E-7099-37D563F118D0}"/>
              </a:ext>
            </a:extLst>
          </p:cNvPr>
          <p:cNvSpPr txBox="1"/>
          <p:nvPr/>
        </p:nvSpPr>
        <p:spPr>
          <a:xfrm>
            <a:off x="1219200" y="1790700"/>
            <a:ext cx="5044440" cy="541687"/>
          </a:xfrm>
          <a:prstGeom prst="rect">
            <a:avLst/>
          </a:prstGeom>
          <a:solidFill>
            <a:srgbClr val="E8F8F5"/>
          </a:solidFill>
          <a:ln>
            <a:solidFill>
              <a:srgbClr val="B9DCD6"/>
            </a:solidFill>
          </a:ln>
        </p:spPr>
        <p:txBody>
          <a:bodyPr wrap="square" lIns="54864" tIns="54864" rIns="54864" bIns="54864">
            <a:spAutoFit/>
          </a:bodyPr>
          <a:lstStyle/>
          <a:p>
            <a:r>
              <a:rPr lang="en-US" sz="2800" b="1" dirty="0">
                <a:solidFill>
                  <a:srgbClr val="087F70"/>
                </a:solidFill>
                <a:latin typeface="Canva Sans" panose="020B0604020202020204" charset="0"/>
              </a:rPr>
              <a:t>Impact on Patients</a:t>
            </a:r>
            <a:endParaRPr sz="2800" b="1" dirty="0">
              <a:solidFill>
                <a:srgbClr val="087F70"/>
              </a:solidFill>
              <a:latin typeface="Canva Sans" panose="020B060402020202020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982DF5-C4CB-8976-3BFC-7DF62E13A742}"/>
              </a:ext>
            </a:extLst>
          </p:cNvPr>
          <p:cNvSpPr txBox="1"/>
          <p:nvPr/>
        </p:nvSpPr>
        <p:spPr>
          <a:xfrm>
            <a:off x="914400" y="2461182"/>
            <a:ext cx="7010400" cy="2434128"/>
          </a:xfrm>
          <a:prstGeom prst="rect">
            <a:avLst/>
          </a:prstGeom>
          <a:noFill/>
          <a:ln>
            <a:solidFill>
              <a:srgbClr val="E1EAEE"/>
            </a:solidFill>
          </a:ln>
        </p:spPr>
        <p:txBody>
          <a:bodyPr wrap="square" lIns="36576" tIns="18288" rIns="36576">
            <a:spAutoFit/>
          </a:bodyPr>
          <a:lstStyle/>
          <a:p>
            <a:pPr marL="457200" indent="-457200">
              <a:lnSpc>
                <a:spcPct val="103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180">
                <a:solidFill>
                  <a:srgbClr val="2D414B"/>
                </a:solidFill>
                <a:latin typeface="Aptos"/>
              </a:defRPr>
            </a:pPr>
            <a:r>
              <a:rPr lang="en-US" sz="2400" dirty="0">
                <a:latin typeface="Canva Sans" panose="020B0604020202020204" charset="0"/>
              </a:rPr>
              <a:t>Reduces harmful drug–food interactions before they occur</a:t>
            </a:r>
          </a:p>
          <a:p>
            <a:pPr marL="457200" indent="-457200">
              <a:lnSpc>
                <a:spcPct val="103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180">
                <a:solidFill>
                  <a:srgbClr val="2D414B"/>
                </a:solidFill>
                <a:latin typeface="Aptos"/>
              </a:defRPr>
            </a:pPr>
            <a:r>
              <a:rPr lang="en-US" sz="2400" dirty="0">
                <a:latin typeface="Canva Sans" panose="020B0604020202020204" charset="0"/>
              </a:rPr>
              <a:t>Reduces anxiety and confusion regarding medication </a:t>
            </a:r>
            <a:r>
              <a:rPr lang="en-US" sz="2400" dirty="0">
                <a:solidFill>
                  <a:srgbClr val="2D414B"/>
                </a:solidFill>
                <a:latin typeface="Canva Sans" panose="020B0604020202020204" charset="0"/>
              </a:rPr>
              <a:t>administration</a:t>
            </a:r>
            <a:r>
              <a:rPr lang="en-US" sz="2400" dirty="0">
                <a:latin typeface="Canva Sans" panose="020B0604020202020204" charset="0"/>
              </a:rPr>
              <a:t>.</a:t>
            </a:r>
          </a:p>
          <a:p>
            <a:pPr marL="457200" indent="-457200">
              <a:lnSpc>
                <a:spcPct val="103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180">
                <a:solidFill>
                  <a:srgbClr val="2D414B"/>
                </a:solidFill>
                <a:latin typeface="Aptos"/>
              </a:defRPr>
            </a:pPr>
            <a:r>
              <a:rPr lang="en-US" sz="2400" dirty="0">
                <a:latin typeface="Canva Sans" panose="020B0604020202020204" charset="0"/>
              </a:rPr>
              <a:t>Improves medication adherence through personalized guidance and reminders.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811574-4EAC-2309-7A49-B9DF39C03EE8}"/>
              </a:ext>
            </a:extLst>
          </p:cNvPr>
          <p:cNvSpPr txBox="1"/>
          <p:nvPr/>
        </p:nvSpPr>
        <p:spPr>
          <a:xfrm>
            <a:off x="1173480" y="5143500"/>
            <a:ext cx="4998720" cy="972574"/>
          </a:xfrm>
          <a:prstGeom prst="rect">
            <a:avLst/>
          </a:prstGeom>
          <a:solidFill>
            <a:srgbClr val="E8F8F5"/>
          </a:solidFill>
          <a:ln>
            <a:solidFill>
              <a:srgbClr val="B9DCD6"/>
            </a:solidFill>
          </a:ln>
        </p:spPr>
        <p:txBody>
          <a:bodyPr wrap="square" lIns="54864" tIns="54864" rIns="54864" bIns="54864">
            <a:spAutoFit/>
          </a:bodyPr>
          <a:lstStyle/>
          <a:p>
            <a:r>
              <a:rPr lang="en-US" sz="2800" b="1" dirty="0">
                <a:solidFill>
                  <a:srgbClr val="087F70"/>
                </a:solidFill>
                <a:latin typeface="Canva Sans" panose="020B0604020202020204" charset="0"/>
              </a:rPr>
              <a:t>Impact on Healthcare Professionals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07148B-7961-3AE9-A1EE-90B79981E0C9}"/>
              </a:ext>
            </a:extLst>
          </p:cNvPr>
          <p:cNvSpPr txBox="1"/>
          <p:nvPr/>
        </p:nvSpPr>
        <p:spPr>
          <a:xfrm>
            <a:off x="914400" y="6246295"/>
            <a:ext cx="7010400" cy="2814553"/>
          </a:xfrm>
          <a:prstGeom prst="rect">
            <a:avLst/>
          </a:prstGeom>
          <a:noFill/>
          <a:ln>
            <a:solidFill>
              <a:srgbClr val="E1EAEE"/>
            </a:solidFill>
          </a:ln>
        </p:spPr>
        <p:txBody>
          <a:bodyPr wrap="square" lIns="36576" tIns="18288" rIns="36576">
            <a:spAutoFit/>
          </a:bodyPr>
          <a:lstStyle/>
          <a:p>
            <a:pPr marL="457200" indent="-457200">
              <a:lnSpc>
                <a:spcPct val="103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180">
                <a:solidFill>
                  <a:srgbClr val="2D414B"/>
                </a:solidFill>
                <a:latin typeface="Aptos"/>
              </a:defRPr>
            </a:pPr>
            <a:r>
              <a:rPr lang="en-US" sz="2400" dirty="0">
                <a:latin typeface="Canva Sans" panose="020B0604020202020204" charset="0"/>
              </a:rPr>
              <a:t>Provides a centralized dashboard for monitoring adherence, food intake, and safety concerns. </a:t>
            </a:r>
          </a:p>
          <a:p>
            <a:pPr marL="457200" indent="-457200">
              <a:lnSpc>
                <a:spcPct val="103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180">
                <a:solidFill>
                  <a:srgbClr val="2D414B"/>
                </a:solidFill>
                <a:latin typeface="Aptos"/>
              </a:defRPr>
            </a:pPr>
            <a:r>
              <a:rPr lang="en-US" sz="2400" dirty="0">
                <a:latin typeface="Canva Sans" panose="020B0604020202020204" charset="0"/>
              </a:rPr>
              <a:t>Saves time spent on repetitive patient counseling.</a:t>
            </a:r>
          </a:p>
          <a:p>
            <a:pPr marL="457200" indent="-457200">
              <a:lnSpc>
                <a:spcPct val="103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180">
                <a:solidFill>
                  <a:srgbClr val="2D414B"/>
                </a:solidFill>
                <a:latin typeface="Aptos"/>
              </a:defRPr>
            </a:pPr>
            <a:r>
              <a:rPr lang="en-US" sz="2400" dirty="0">
                <a:latin typeface="Canva Sans" panose="020B0604020202020204" charset="0"/>
              </a:rPr>
              <a:t>Enables early identification of interaction-related risks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19EA6B-F396-4F31-C1BA-1C550070A28F}"/>
              </a:ext>
            </a:extLst>
          </p:cNvPr>
          <p:cNvSpPr txBox="1"/>
          <p:nvPr/>
        </p:nvSpPr>
        <p:spPr>
          <a:xfrm>
            <a:off x="8253663" y="2476500"/>
            <a:ext cx="9144000" cy="5632311"/>
          </a:xfrm>
          <a:prstGeom prst="rect">
            <a:avLst/>
          </a:prstGeom>
          <a:noFill/>
          <a:ln>
            <a:solidFill>
              <a:srgbClr val="B9DCD6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D414B"/>
                </a:solidFill>
                <a:latin typeface="Canva Sans" panose="020B0604020202020204" charset="0"/>
              </a:rPr>
              <a:t>Benefits of the solution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D414B"/>
              </a:solidFill>
              <a:latin typeface="Canva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D414B"/>
                </a:solidFill>
                <a:latin typeface="Canva Sans" panose="020B0604020202020204" charset="0"/>
              </a:rPr>
              <a:t>Clinical Benefits: detection and prevention of drug–food interactions, Personalized administration recommendations based on scientific evidence.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D414B"/>
              </a:solidFill>
              <a:latin typeface="Canva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D414B"/>
                </a:solidFill>
                <a:latin typeface="Canva Sans" panose="020B0604020202020204" charset="0"/>
              </a:rPr>
              <a:t>Economic Benefits : Decreases unnecessary hospital visits and emergency admissions.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D414B"/>
              </a:solidFill>
              <a:latin typeface="Canva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D414B"/>
                </a:solidFill>
                <a:latin typeface="Canva Sans" panose="020B0604020202020204" charset="0"/>
              </a:rPr>
              <a:t>Social Benefits: Supports elderly and chronic disease patients who often take multiple medications.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D414B"/>
              </a:solidFill>
              <a:latin typeface="Canva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D414B"/>
                </a:solidFill>
                <a:latin typeface="Canva Sans" panose="020B0604020202020204" charset="0"/>
              </a:rPr>
              <a:t>Technological Benefits : Provides evidence-based alternatives, timing guidance, and food quantity recommendations.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F79D8B-0F97-CA4C-3A9F-10AF303BDE88}"/>
              </a:ext>
            </a:extLst>
          </p:cNvPr>
          <p:cNvSpPr txBox="1"/>
          <p:nvPr/>
        </p:nvSpPr>
        <p:spPr>
          <a:xfrm>
            <a:off x="8641080" y="1775580"/>
            <a:ext cx="4998720" cy="541687"/>
          </a:xfrm>
          <a:prstGeom prst="rect">
            <a:avLst/>
          </a:prstGeom>
          <a:solidFill>
            <a:srgbClr val="E8F8F5"/>
          </a:solidFill>
          <a:ln>
            <a:solidFill>
              <a:srgbClr val="B9DCD6"/>
            </a:solidFill>
          </a:ln>
        </p:spPr>
        <p:txBody>
          <a:bodyPr wrap="square" lIns="54864" tIns="54864" rIns="54864" bIns="54864">
            <a:spAutoFit/>
          </a:bodyPr>
          <a:lstStyle/>
          <a:p>
            <a:r>
              <a:rPr lang="en-US" sz="2800" b="1" dirty="0">
                <a:solidFill>
                  <a:srgbClr val="087F70"/>
                </a:solidFill>
                <a:latin typeface="Canva Sans" panose="020B0604020202020204" charset="0"/>
              </a:rPr>
              <a:t>Benefits of the solution</a:t>
            </a:r>
          </a:p>
        </p:txBody>
      </p:sp>
      <p:sp>
        <p:nvSpPr>
          <p:cNvPr id="36" name="Freeform 16">
            <a:extLst>
              <a:ext uri="{FF2B5EF4-FFF2-40B4-BE49-F238E27FC236}">
                <a16:creationId xmlns:a16="http://schemas.microsoft.com/office/drawing/2014/main" id="{7BD22F52-8DA9-E4D9-5DEA-11BE7288ED4F}"/>
              </a:ext>
            </a:extLst>
          </p:cNvPr>
          <p:cNvSpPr/>
          <p:nvPr/>
        </p:nvSpPr>
        <p:spPr>
          <a:xfrm>
            <a:off x="-68379" y="5198791"/>
            <a:ext cx="982779" cy="972574"/>
          </a:xfrm>
          <a:custGeom>
            <a:avLst/>
            <a:gdLst/>
            <a:ahLst/>
            <a:cxnLst/>
            <a:rect l="l" t="t" r="r" b="b"/>
            <a:pathLst>
              <a:path w="2121301" h="2099273">
                <a:moveTo>
                  <a:pt x="0" y="0"/>
                </a:moveTo>
                <a:lnTo>
                  <a:pt x="2121301" y="0"/>
                </a:lnTo>
                <a:lnTo>
                  <a:pt x="2121301" y="2099273"/>
                </a:lnTo>
                <a:lnTo>
                  <a:pt x="0" y="209927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5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40" name="Freeform 16">
            <a:extLst>
              <a:ext uri="{FF2B5EF4-FFF2-40B4-BE49-F238E27FC236}">
                <a16:creationId xmlns:a16="http://schemas.microsoft.com/office/drawing/2014/main" id="{CD1DCCBD-4B8E-59F3-EC38-3F5E09210050}"/>
              </a:ext>
            </a:extLst>
          </p:cNvPr>
          <p:cNvSpPr/>
          <p:nvPr/>
        </p:nvSpPr>
        <p:spPr>
          <a:xfrm>
            <a:off x="-76200" y="1503926"/>
            <a:ext cx="982779" cy="972574"/>
          </a:xfrm>
          <a:custGeom>
            <a:avLst/>
            <a:gdLst/>
            <a:ahLst/>
            <a:cxnLst/>
            <a:rect l="l" t="t" r="r" b="b"/>
            <a:pathLst>
              <a:path w="2121301" h="2099273">
                <a:moveTo>
                  <a:pt x="0" y="0"/>
                </a:moveTo>
                <a:lnTo>
                  <a:pt x="2121301" y="0"/>
                </a:lnTo>
                <a:lnTo>
                  <a:pt x="2121301" y="2099273"/>
                </a:lnTo>
                <a:lnTo>
                  <a:pt x="0" y="209927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5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</p:sp>
      <p:sp>
        <p:nvSpPr>
          <p:cNvPr id="42" name="Freeform 16">
            <a:extLst>
              <a:ext uri="{FF2B5EF4-FFF2-40B4-BE49-F238E27FC236}">
                <a16:creationId xmlns:a16="http://schemas.microsoft.com/office/drawing/2014/main" id="{5E652DB9-F4A8-912D-E8E6-67939A6CD98E}"/>
              </a:ext>
            </a:extLst>
          </p:cNvPr>
          <p:cNvSpPr/>
          <p:nvPr/>
        </p:nvSpPr>
        <p:spPr>
          <a:xfrm>
            <a:off x="7597842" y="1488608"/>
            <a:ext cx="982779" cy="972574"/>
          </a:xfrm>
          <a:custGeom>
            <a:avLst/>
            <a:gdLst/>
            <a:ahLst/>
            <a:cxnLst/>
            <a:rect l="l" t="t" r="r" b="b"/>
            <a:pathLst>
              <a:path w="2121301" h="2099273">
                <a:moveTo>
                  <a:pt x="0" y="0"/>
                </a:moveTo>
                <a:lnTo>
                  <a:pt x="2121301" y="0"/>
                </a:lnTo>
                <a:lnTo>
                  <a:pt x="2121301" y="2099273"/>
                </a:lnTo>
                <a:lnTo>
                  <a:pt x="0" y="2099273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>
              <a:alphaModFix amt="5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a:blipFill>
        </p:spPr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3945D96-7DCD-1068-5F3F-0205C945E6A2}"/>
              </a:ext>
            </a:extLst>
          </p:cNvPr>
          <p:cNvGrpSpPr/>
          <p:nvPr/>
        </p:nvGrpSpPr>
        <p:grpSpPr>
          <a:xfrm>
            <a:off x="14556282" y="8493704"/>
            <a:ext cx="3602467" cy="1221796"/>
            <a:chOff x="11741310" y="7344029"/>
            <a:chExt cx="5617382" cy="190516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E219E1E-9DAC-46A4-5EE8-2E8A11556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68768" y="7344029"/>
              <a:ext cx="1889924" cy="1874682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BDA9184-63F9-D8D1-4893-5DEA0DAB0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41310" y="7344029"/>
              <a:ext cx="1935648" cy="190516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C2DD79F-2C6B-160B-46E1-3298E69B0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63600" y="7344029"/>
              <a:ext cx="1935648" cy="1874682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7CC73613-8AAC-B285-017E-787B5C553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825103"/>
            <a:ext cx="18288000" cy="46189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95AFBF63-3DB7-D459-0088-8ACBB7873C04}"/>
              </a:ext>
            </a:extLst>
          </p:cNvPr>
          <p:cNvSpPr txBox="1">
            <a:spLocks/>
          </p:cNvSpPr>
          <p:nvPr/>
        </p:nvSpPr>
        <p:spPr>
          <a:xfrm>
            <a:off x="754380" y="9805787"/>
            <a:ext cx="16619220" cy="525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dirty="0">
                <a:solidFill>
                  <a:schemeClr val="bg1"/>
                </a:solidFill>
              </a:rPr>
              <a:t>@SIH Idea submission  -  COPS and SOE, DSU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448793" y="378369"/>
            <a:ext cx="128778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5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677C3CE7-23F7-4828-823C-E0205DF2CF97}" type="slidenum">
              <a:rPr lang="en-US" sz="1800" b="1">
                <a:solidFill>
                  <a:prstClr val="white"/>
                </a:solidFill>
                <a:latin typeface="TradeGothic" pitchFamily="1" charset="0"/>
                <a:ea typeface="ＭＳ Ｐゴシック" pitchFamily="1" charset="-128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sz="1800" b="1" dirty="0">
              <a:solidFill>
                <a:prstClr val="white"/>
              </a:solidFill>
              <a:latin typeface="TradeGothic" pitchFamily="1" charset="0"/>
              <a:ea typeface="ＭＳ Ｐゴシック" pitchFamily="1" charset="-128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6972300" y="9534530"/>
            <a:ext cx="4806000" cy="547688"/>
          </a:xfrm>
        </p:spPr>
        <p:txBody>
          <a:bodyPr/>
          <a:lstStyle/>
          <a:p>
            <a:pPr defTabSz="685800">
              <a:defRPr/>
            </a:pPr>
            <a:r>
              <a:rPr lang="en-US" sz="1800">
                <a:solidFill>
                  <a:prstClr val="white"/>
                </a:solidFill>
                <a:latin typeface="TradeGothic"/>
              </a:rPr>
              <a:t>@SIH Idea submission- Template</a:t>
            </a:r>
            <a:endParaRPr lang="en-US" sz="1800" dirty="0">
              <a:solidFill>
                <a:prstClr val="white"/>
              </a:solidFill>
              <a:latin typeface="TradeGothic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94660" y="378369"/>
            <a:ext cx="1877786" cy="121100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700" b="1" dirty="0"/>
              <a:t>Med Fusion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0129" y="2251"/>
            <a:ext cx="3374775" cy="15935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735BC9-B408-7DCC-8341-0DEC6FAD793F}"/>
              </a:ext>
            </a:extLst>
          </p:cNvPr>
          <p:cNvSpPr txBox="1"/>
          <p:nvPr/>
        </p:nvSpPr>
        <p:spPr>
          <a:xfrm>
            <a:off x="1010836" y="1861659"/>
            <a:ext cx="15316200" cy="6817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U.S. National Library of Medicine. </a:t>
            </a:r>
            <a:r>
              <a:rPr lang="en-US" sz="2300" dirty="0" err="1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DailyMed</a:t>
            </a:r>
            <a:r>
              <a:rPr lang="en-US" sz="2300" dirty="0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: Provides FDA-approved medication labeling and prescribing </a:t>
            </a:r>
            <a:r>
              <a:rPr lang="en-US" sz="2300" dirty="0" err="1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information.DailyMed</a:t>
            </a:r>
            <a:r>
              <a:rPr lang="en-US" sz="2300" dirty="0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300" dirty="0">
              <a:solidFill>
                <a:srgbClr val="283328"/>
              </a:solidFill>
              <a:latin typeface="Poppins Bold" panose="020B0604020202020204" charset="0"/>
              <a:cs typeface="Poppins Bold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U.S. Food and Drug Administration. </a:t>
            </a:r>
            <a:r>
              <a:rPr lang="en-US" sz="2300" dirty="0" err="1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Drugs@FDA</a:t>
            </a:r>
            <a:r>
              <a:rPr lang="en-US" sz="2300" dirty="0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: FDA-approved drug products and </a:t>
            </a:r>
            <a:r>
              <a:rPr lang="en-US" sz="2300" dirty="0" err="1">
                <a:solidFill>
                  <a:srgbClr val="0000FF"/>
                </a:solidFill>
                <a:latin typeface="Poppins Bold" panose="020B0604020202020204" charset="0"/>
                <a:cs typeface="Poppins Bold" panose="020B060402020202020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labeling.Drugs@</a:t>
            </a:r>
            <a:r>
              <a:rPr lang="en-US" sz="2300" dirty="0" err="1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FDA</a:t>
            </a:r>
            <a:endParaRPr lang="en-US" sz="2300" dirty="0">
              <a:solidFill>
                <a:srgbClr val="283328"/>
              </a:solidFill>
              <a:latin typeface="Poppins Bold" panose="020B0604020202020204" charset="0"/>
              <a:cs typeface="Poppins Bold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300" dirty="0">
              <a:solidFill>
                <a:srgbClr val="283328"/>
              </a:solidFill>
              <a:latin typeface="Poppins Bold" panose="020B0604020202020204" charset="0"/>
              <a:cs typeface="Poppins Bold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U.S. National Library of Medicine. </a:t>
            </a:r>
            <a:r>
              <a:rPr lang="en-US" sz="2300" dirty="0" err="1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DailyMed</a:t>
            </a:r>
            <a:r>
              <a:rPr lang="en-US" sz="2300" dirty="0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: Provides FDA-approved medication labeling and prescribing </a:t>
            </a:r>
            <a:r>
              <a:rPr lang="en-US" sz="2300" dirty="0" err="1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information.DailyMed</a:t>
            </a:r>
            <a:endParaRPr lang="en-US" sz="2300" dirty="0">
              <a:solidFill>
                <a:srgbClr val="283328"/>
              </a:solidFill>
              <a:latin typeface="Poppins Bold" panose="020B0604020202020204" charset="0"/>
              <a:cs typeface="Poppins Bold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300" dirty="0">
              <a:solidFill>
                <a:srgbClr val="283328"/>
              </a:solidFill>
              <a:latin typeface="Poppins Bold" panose="020B0604020202020204" charset="0"/>
              <a:cs typeface="Poppins Bold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U.S. National Library of Medicine. PubMed: Biomedical literature database for evidence-based clinical </a:t>
            </a:r>
            <a:r>
              <a:rPr lang="en-US" sz="2300" dirty="0" err="1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research.PubMed</a:t>
            </a:r>
            <a:r>
              <a:rPr lang="en-US" sz="2300" dirty="0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300" dirty="0">
              <a:solidFill>
                <a:srgbClr val="283328"/>
              </a:solidFill>
              <a:latin typeface="Poppins Bold" panose="020B0604020202020204" charset="0"/>
              <a:cs typeface="Poppins Bold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U.S. National Library of Medicine. </a:t>
            </a:r>
            <a:r>
              <a:rPr lang="en-US" sz="2300" dirty="0" err="1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RxNorm</a:t>
            </a:r>
            <a:r>
              <a:rPr lang="en-US" sz="2300" dirty="0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: Standardized nomenclature for clinical </a:t>
            </a:r>
            <a:r>
              <a:rPr lang="en-US" sz="2300" dirty="0" err="1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drugs.RxNorm</a:t>
            </a:r>
            <a:r>
              <a:rPr lang="en-US" sz="2300" dirty="0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300" dirty="0">
              <a:solidFill>
                <a:srgbClr val="283328"/>
              </a:solidFill>
              <a:latin typeface="Poppins Bold" panose="020B0604020202020204" charset="0"/>
              <a:cs typeface="Poppins Bold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U.S. National Library of Medicine. MedlinePlus: Drug and supplement information for </a:t>
            </a:r>
            <a:r>
              <a:rPr lang="en-US" sz="2300" dirty="0" err="1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patients.MedlinePlus</a:t>
            </a:r>
            <a:r>
              <a:rPr lang="en-US" sz="2300" dirty="0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 Drugs, Herbs &amp; Supplements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300" dirty="0">
              <a:solidFill>
                <a:srgbClr val="283328"/>
              </a:solidFill>
              <a:latin typeface="Poppins Bold" panose="020B0604020202020204" charset="0"/>
              <a:cs typeface="Poppins Bold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U.S. Food and Drug Administration. Open FDA: Public API providing access to FDA datasets, including drug </a:t>
            </a:r>
            <a:r>
              <a:rPr lang="en-US" sz="2300" dirty="0" err="1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information.openFDA</a:t>
            </a:r>
            <a:r>
              <a:rPr lang="en-US" sz="2300" dirty="0">
                <a:solidFill>
                  <a:srgbClr val="283328"/>
                </a:solidFill>
                <a:latin typeface="Poppins Bold" panose="020B0604020202020204" charset="0"/>
                <a:cs typeface="Poppins Bold" panose="020B0604020202020204" charset="0"/>
              </a:rPr>
              <a:t>⁠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1B9CD67-2868-8C2C-56A3-D7E20B0A74FF}"/>
              </a:ext>
            </a:extLst>
          </p:cNvPr>
          <p:cNvGrpSpPr/>
          <p:nvPr/>
        </p:nvGrpSpPr>
        <p:grpSpPr>
          <a:xfrm>
            <a:off x="14556282" y="8569904"/>
            <a:ext cx="3602467" cy="1221796"/>
            <a:chOff x="11741310" y="7344029"/>
            <a:chExt cx="5617382" cy="190516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B7D7B79-C219-B0E0-CA4D-93156A30C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68768" y="7344029"/>
              <a:ext cx="1889924" cy="187468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637BBE-74FF-66D0-09FB-56AF8B145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41310" y="7344029"/>
              <a:ext cx="1935648" cy="190516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23D73D4-8EA3-87BF-7A29-BFE3EA8A4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63601" y="7344029"/>
              <a:ext cx="1935648" cy="1874682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96486A1C-6AAB-3264-556A-2783C3714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825103"/>
            <a:ext cx="18288000" cy="46189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F805AEA-352D-0AE5-22A2-A25D32003319}"/>
              </a:ext>
            </a:extLst>
          </p:cNvPr>
          <p:cNvSpPr txBox="1">
            <a:spLocks/>
          </p:cNvSpPr>
          <p:nvPr/>
        </p:nvSpPr>
        <p:spPr>
          <a:xfrm>
            <a:off x="754380" y="9805787"/>
            <a:ext cx="16619220" cy="5253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dirty="0">
                <a:solidFill>
                  <a:schemeClr val="bg1"/>
                </a:solidFill>
              </a:rPr>
              <a:t>@SIH Idea submission  -  COPS and SOE, DSU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842</Words>
  <Application>Microsoft Office PowerPoint</Application>
  <PresentationFormat>Custom</PresentationFormat>
  <Paragraphs>190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Yu Gothic UI</vt:lpstr>
      <vt:lpstr>Aptos</vt:lpstr>
      <vt:lpstr>Calibri</vt:lpstr>
      <vt:lpstr>Poppins Bold</vt:lpstr>
      <vt:lpstr>ＭＳ Ｐゴシック</vt:lpstr>
      <vt:lpstr>Garamond</vt:lpstr>
      <vt:lpstr>Times New Roman</vt:lpstr>
      <vt:lpstr>Canva Sans</vt:lpstr>
      <vt:lpstr>TradeGothic</vt:lpstr>
      <vt:lpstr>Arial</vt:lpstr>
      <vt:lpstr>Office Theme</vt:lpstr>
      <vt:lpstr>SMART INDIA HACKATHON 2026    </vt:lpstr>
      <vt:lpstr>PowerPoint Presentation</vt:lpstr>
      <vt:lpstr>PowerPoint Presentation</vt:lpstr>
      <vt:lpstr>PowerPoint Presentation</vt:lpstr>
      <vt:lpstr>IMPACT AND BENEFITS</vt:lpstr>
      <vt:lpstr>RESEARCH  AND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Green Modern Health Care Presentation</dc:title>
  <dc:creator>Karunakar</dc:creator>
  <cp:lastModifiedBy>Karunakar</cp:lastModifiedBy>
  <cp:revision>10</cp:revision>
  <dcterms:created xsi:type="dcterms:W3CDTF">2006-08-16T00:00:00Z</dcterms:created>
  <dcterms:modified xsi:type="dcterms:W3CDTF">2026-08-28T03:42:11Z</dcterms:modified>
  <dc:identifier>DAHTY3lPa0Y</dc:identifier>
</cp:coreProperties>
</file>